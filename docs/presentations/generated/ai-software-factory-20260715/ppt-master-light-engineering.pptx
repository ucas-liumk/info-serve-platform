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_software_factory_ligh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_software_factory_ligh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b6487203deb9ee8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280d5b2eb3dbfa3.jp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86fbd3162d5bad.jpg"/>
  <Relationship Id="rId3" Type="http://schemas.openxmlformats.org/officeDocument/2006/relationships/image" Target="../media/image_ad47dd55dba123c1.jpg"/>
  <Relationship Id="rId4" Type="http://schemas.openxmlformats.org/officeDocument/2006/relationships/image" Target="../media/image_96c8c139e9a5e7c5.jpg"/>
  <Relationship Id="rId5" Type="http://schemas.openxmlformats.org/officeDocument/2006/relationships/image" Target="../media/image_fd63c6984040115f.jpg"/>
  <Relationship Id="rId6" Type="http://schemas.openxmlformats.org/officeDocument/2006/relationships/image" Target="../media/image_6357d1949cb4af97.jp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17d2fa53e42c21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61919450bb7e3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c3574bb657e5e2d.jpg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1714" cy="6858000"/>
            <a:chOff x="0" y="0"/>
            <a:chExt cx="12191714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714" cy="6858000"/>
            </a:xfrm>
            <a:prstGeom prst="rect">
              <a:avLst/>
            </a:prstGeom>
          </p:spPr>
        </p:pic>
      </p:grpSp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chemeClr val="lt1">
              <a:alpha val="97000"/>
            </a:schemeClr>
          </a:solidFill>
          <a:ln w="12697">
            <a:solidFill>
              <a:srgbClr val="F5FAFF">
                <a:alpha val="0"/>
              </a:srgbClr>
            </a:solidFill>
          </a:ln>
        </p:spPr>
      </p:sp>
      <p:sp>
        <p:nvSpPr>
          <p:cNvPr id="4" name="Shape 1"/>
          <p:cNvSpPr/>
          <p:nvPr/>
        </p:nvSpPr>
        <p:spPr>
          <a:xfrm>
            <a:off x="694944" y="1024128"/>
            <a:ext cx="1051560" cy="0"/>
          </a:xfrm>
          <a:prstGeom prst="line">
            <a:avLst/>
          </a:prstGeom>
          <a:noFill/>
          <a:ln w="50797">
            <a:solidFill>
              <a:schemeClr val="accent1"/>
            </a:solidFill>
          </a:ln>
        </p:spPr>
      </p:sp>
      <p:sp>
        <p:nvSpPr>
          <p:cNvPr id="5" name="Text 2"/>
          <p:cNvSpPr/>
          <p:nvPr/>
        </p:nvSpPr>
        <p:spPr>
          <a:xfrm>
            <a:off x="713232" y="576072"/>
            <a:ext cx="338328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内部交流 · 2026.07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85800" y="1325880"/>
            <a:ext cx="6035040" cy="1417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13232" y="2971800"/>
            <a:ext cx="5212080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时代信息化自主建设能力探索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13232" y="5440680"/>
            <a:ext cx="51206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项目实践 → AI 研发 → 软件工厂 → 组织能力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今天只回答三个问题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项目是起点，组织能力才是落点。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3456432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Shape 8"/>
          <p:cNvSpPr/>
          <p:nvPr/>
        </p:nvSpPr>
        <p:spPr>
          <a:xfrm>
            <a:off x="859536" y="207568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1" name="Text 9"/>
          <p:cNvSpPr/>
          <p:nvPr/>
        </p:nvSpPr>
        <p:spPr>
          <a:xfrm>
            <a:off x="859536" y="208483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89888" y="2039112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6968" y="2496312"/>
            <a:ext cx="2999232" cy="163677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辅助下，一个研发人员怎样完成真实项目的全生命周期？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25696" y="1874520"/>
            <a:ext cx="3456432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5" name="Shape 13"/>
          <p:cNvSpPr/>
          <p:nvPr/>
        </p:nvSpPr>
        <p:spPr>
          <a:xfrm>
            <a:off x="4626864" y="207568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6" name="Text 14"/>
          <p:cNvSpPr/>
          <p:nvPr/>
        </p:nvSpPr>
        <p:spPr>
          <a:xfrm>
            <a:off x="4626864" y="208483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57216" y="2039112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54296" y="2496312"/>
            <a:ext cx="2999232" cy="163677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赋能的自主研发怎样嵌入软件工厂，形成受控生产闭环？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1874520"/>
            <a:ext cx="3456432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0" name="Shape 18"/>
          <p:cNvSpPr/>
          <p:nvPr/>
        </p:nvSpPr>
        <p:spPr>
          <a:xfrm>
            <a:off x="8394192" y="207568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1" name="Text 19"/>
          <p:cNvSpPr/>
          <p:nvPr/>
        </p:nvSpPr>
        <p:spPr>
          <a:xfrm>
            <a:off x="8394192" y="208483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24544" y="2039112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21624" y="2496312"/>
            <a:ext cx="2999232" cy="163677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我们怎样选择试点、跑通闭环并逐步推广？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4892040"/>
            <a:ext cx="10789920" cy="5029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项目是起点，组织能力才是落点。</a:t>
            </a:r>
            <a:endParaRPr lang="en-US" sz="23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一个真实系统，也是一块能力训练场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目标不是汇报个人成果，而是验证“自主完成软件全生命周期”的能力边界。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691640"/>
            <a:ext cx="480060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896112" y="1938528"/>
            <a:ext cx="411480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服务业务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6112" y="2542032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2" name="Text 10"/>
          <p:cNvSpPr/>
          <p:nvPr/>
        </p:nvSpPr>
        <p:spPr>
          <a:xfrm>
            <a:off x="1124712" y="2706624"/>
            <a:ext cx="370332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grpSp>
        <p:nvGrpSpPr>
          <p:cNvPr id="33" name="Group 33"/>
          <p:cNvGrpSpPr/>
          <p:nvPr/>
        </p:nvGrpSpPr>
        <p:grpSpPr>
          <a:xfrm>
            <a:off x="1118871" y="3163819"/>
            <a:ext cx="1559475" cy="224868"/>
            <a:chOff x="1118871" y="3163819"/>
            <a:chExt cx="1559475" cy="224868"/>
          </a:xfrm>
        </p:grpSpPr>
        <p:sp>
          <p:nvSpPr>
            <p:cNvPr id="32" name="TextBox 32"/>
            <p:cNvSpPr txBox="1"/>
            <p:nvPr/>
          </p:nvSpPr>
          <p:spPr>
            <a:xfrm>
              <a:off x="1118871" y="3163819"/>
              <a:ext cx="1559475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统一承载内部信息服务</a:t>
              </a:r>
            </a:p>
          </p:txBody>
        </p:sp>
      </p:grpSp>
      <p:sp>
        <p:nvSpPr>
          <p:cNvPr id="14" name="Shape 12"/>
          <p:cNvSpPr/>
          <p:nvPr/>
        </p:nvSpPr>
        <p:spPr>
          <a:xfrm>
            <a:off x="896112" y="3529584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5" name="Text 13"/>
          <p:cNvSpPr/>
          <p:nvPr/>
        </p:nvSpPr>
        <p:spPr>
          <a:xfrm>
            <a:off x="1124712" y="3694176"/>
            <a:ext cx="370332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grpSp>
        <p:nvGrpSpPr>
          <p:cNvPr id="35" name="Group 35"/>
          <p:cNvGrpSpPr/>
          <p:nvPr/>
        </p:nvGrpSpPr>
        <p:grpSpPr>
          <a:xfrm>
            <a:off x="1118871" y="4151371"/>
            <a:ext cx="2023813" cy="224868"/>
            <a:chOff x="1118871" y="4151371"/>
            <a:chExt cx="2023813" cy="224868"/>
          </a:xfrm>
        </p:grpSpPr>
        <p:sp>
          <p:nvSpPr>
            <p:cNvPr id="34" name="TextBox 34"/>
            <p:cNvSpPr txBox="1"/>
            <p:nvPr/>
          </p:nvSpPr>
          <p:spPr>
            <a:xfrm>
              <a:off x="1118871" y="4151371"/>
              <a:ext cx="2023813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区分普通用户门户与管理后台</a:t>
              </a:r>
            </a:p>
          </p:txBody>
        </p:sp>
      </p:grpSp>
      <p:sp>
        <p:nvSpPr>
          <p:cNvPr id="17" name="Shape 15"/>
          <p:cNvSpPr/>
          <p:nvPr/>
        </p:nvSpPr>
        <p:spPr>
          <a:xfrm>
            <a:off x="896112" y="4517136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1124712" y="4681728"/>
            <a:ext cx="370332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grpSp>
        <p:nvGrpSpPr>
          <p:cNvPr id="37" name="Group 37"/>
          <p:cNvGrpSpPr/>
          <p:nvPr/>
        </p:nvGrpSpPr>
        <p:grpSpPr>
          <a:xfrm>
            <a:off x="1118871" y="5138923"/>
            <a:ext cx="1404696" cy="224868"/>
            <a:chOff x="1118871" y="5138923"/>
            <a:chExt cx="1404696" cy="224868"/>
          </a:xfrm>
        </p:grpSpPr>
        <p:sp>
          <p:nvSpPr>
            <p:cNvPr id="36" name="TextBox 36"/>
            <p:cNvSpPr txBox="1"/>
            <p:nvPr/>
          </p:nvSpPr>
          <p:spPr>
            <a:xfrm>
              <a:off x="1118871" y="5138923"/>
              <a:ext cx="1404696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持续从真实反馈迭代</a:t>
              </a:r>
            </a:p>
          </p:txBody>
        </p:sp>
      </p:grpSp>
      <p:sp>
        <p:nvSpPr>
          <p:cNvPr id="20" name="Shape 18"/>
          <p:cNvSpPr/>
          <p:nvPr/>
        </p:nvSpPr>
        <p:spPr>
          <a:xfrm>
            <a:off x="5623560" y="1691640"/>
            <a:ext cx="5961888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1" name="Text 19"/>
          <p:cNvSpPr/>
          <p:nvPr/>
        </p:nvSpPr>
        <p:spPr>
          <a:xfrm>
            <a:off x="5925312" y="1938528"/>
            <a:ext cx="310896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训练能力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925312" y="2542032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3" name="Text 21"/>
          <p:cNvSpPr/>
          <p:nvPr/>
        </p:nvSpPr>
        <p:spPr>
          <a:xfrm>
            <a:off x="6153912" y="2706624"/>
            <a:ext cx="26060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grpSp>
        <p:nvGrpSpPr>
          <p:cNvPr id="39" name="Group 39"/>
          <p:cNvGrpSpPr/>
          <p:nvPr/>
        </p:nvGrpSpPr>
        <p:grpSpPr>
          <a:xfrm>
            <a:off x="6148071" y="3163819"/>
            <a:ext cx="1095137" cy="224868"/>
            <a:chOff x="6148071" y="3163819"/>
            <a:chExt cx="1095137" cy="224868"/>
          </a:xfrm>
        </p:grpSpPr>
        <p:sp>
          <p:nvSpPr>
            <p:cNvPr id="38" name="TextBox 38"/>
            <p:cNvSpPr txBox="1"/>
            <p:nvPr/>
          </p:nvSpPr>
          <p:spPr>
            <a:xfrm>
              <a:off x="6148071" y="3163819"/>
              <a:ext cx="1095137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需求与产品设计</a:t>
              </a:r>
            </a:p>
          </p:txBody>
        </p:sp>
      </p:grpSp>
      <p:sp>
        <p:nvSpPr>
          <p:cNvPr id="25" name="Shape 23"/>
          <p:cNvSpPr/>
          <p:nvPr/>
        </p:nvSpPr>
        <p:spPr>
          <a:xfrm>
            <a:off x="5925312" y="3529584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6" name="Text 24"/>
          <p:cNvSpPr/>
          <p:nvPr/>
        </p:nvSpPr>
        <p:spPr>
          <a:xfrm>
            <a:off x="6153912" y="3694176"/>
            <a:ext cx="26060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grpSp>
        <p:nvGrpSpPr>
          <p:cNvPr id="41" name="Group 41"/>
          <p:cNvGrpSpPr/>
          <p:nvPr/>
        </p:nvGrpSpPr>
        <p:grpSpPr>
          <a:xfrm>
            <a:off x="6148071" y="4151371"/>
            <a:ext cx="1095137" cy="224868"/>
            <a:chOff x="6148071" y="4151371"/>
            <a:chExt cx="1095137" cy="224868"/>
          </a:xfrm>
        </p:grpSpPr>
        <p:sp>
          <p:nvSpPr>
            <p:cNvPr id="40" name="TextBox 40"/>
            <p:cNvSpPr txBox="1"/>
            <p:nvPr/>
          </p:nvSpPr>
          <p:spPr>
            <a:xfrm>
              <a:off x="6148071" y="4151371"/>
              <a:ext cx="1095137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架构与编码测试</a:t>
              </a:r>
            </a:p>
          </p:txBody>
        </p:sp>
      </p:grpSp>
      <p:sp>
        <p:nvSpPr>
          <p:cNvPr id="28" name="Shape 26"/>
          <p:cNvSpPr/>
          <p:nvPr/>
        </p:nvSpPr>
        <p:spPr>
          <a:xfrm>
            <a:off x="5925312" y="4517136"/>
            <a:ext cx="3063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9" name="Text 27"/>
          <p:cNvSpPr/>
          <p:nvPr/>
        </p:nvSpPr>
        <p:spPr>
          <a:xfrm>
            <a:off x="6153912" y="4681728"/>
            <a:ext cx="26060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grpSp>
        <p:nvGrpSpPr>
          <p:cNvPr id="43" name="Group 43"/>
          <p:cNvGrpSpPr/>
          <p:nvPr/>
        </p:nvGrpSpPr>
        <p:grpSpPr>
          <a:xfrm>
            <a:off x="6148071" y="5138923"/>
            <a:ext cx="1559475" cy="224868"/>
            <a:chOff x="6148071" y="5138923"/>
            <a:chExt cx="1559475" cy="224868"/>
          </a:xfrm>
        </p:grpSpPr>
        <p:sp>
          <p:nvSpPr>
            <p:cNvPr id="42" name="TextBox 42"/>
            <p:cNvSpPr txBox="1"/>
            <p:nvPr/>
          </p:nvSpPr>
          <p:spPr>
            <a:xfrm>
              <a:off x="6148071" y="5138923"/>
              <a:ext cx="1559475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部署、升级与运行治理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125712" y="1874520"/>
            <a:ext cx="2176272" cy="3639312"/>
            <a:chOff x="9125712" y="1874520"/>
            <a:chExt cx="2176272" cy="3639312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5712" y="1874520"/>
              <a:ext cx="2176272" cy="3639312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项目当前提供什么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统一入口之下，业务能力按限界上下文拆分。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755648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850392" y="1938528"/>
            <a:ext cx="841248" cy="841248"/>
            <a:chOff x="850392" y="1938528"/>
            <a:chExt cx="841248" cy="841248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392" y="1938528"/>
              <a:ext cx="841248" cy="841248"/>
            </a:xfrm>
            <a:prstGeom prst="rect">
              <a:avLst/>
            </a:prstGeom>
          </p:spPr>
        </p:pic>
      </p:grpSp>
      <p:sp>
        <p:nvSpPr>
          <p:cNvPr id="11" name="Text 8"/>
          <p:cNvSpPr/>
          <p:nvPr/>
        </p:nvSpPr>
        <p:spPr>
          <a:xfrm>
            <a:off x="1828800" y="1956816"/>
            <a:ext cx="2075688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统一门户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28800" y="2377440"/>
            <a:ext cx="2075688" cy="56692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服务入口、通知、手册与个人信息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80560" y="1755648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4645152" y="1938528"/>
            <a:ext cx="841248" cy="841248"/>
            <a:chOff x="4645152" y="1938528"/>
            <a:chExt cx="841248" cy="841248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45152" y="1938528"/>
              <a:ext cx="841248" cy="841248"/>
            </a:xfrm>
            <a:prstGeom prst="rect">
              <a:avLst/>
            </a:prstGeom>
          </p:spPr>
        </p:pic>
      </p:grpSp>
      <p:sp>
        <p:nvSpPr>
          <p:cNvPr id="15" name="Text 11"/>
          <p:cNvSpPr/>
          <p:nvPr/>
        </p:nvSpPr>
        <p:spPr>
          <a:xfrm>
            <a:off x="5623560" y="1956816"/>
            <a:ext cx="2075688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应用中心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23560" y="2377440"/>
            <a:ext cx="2075688" cy="56692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应用目录、分类检索、收藏与反馈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75320" y="1755648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grpSp>
        <p:nvGrpSpPr>
          <p:cNvPr id="31" name="Group 31"/>
          <p:cNvGrpSpPr/>
          <p:nvPr/>
        </p:nvGrpSpPr>
        <p:grpSpPr>
          <a:xfrm>
            <a:off x="8439912" y="1938528"/>
            <a:ext cx="841248" cy="841248"/>
            <a:chOff x="8439912" y="1938528"/>
            <a:chExt cx="841248" cy="841248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39912" y="1938528"/>
              <a:ext cx="841248" cy="841248"/>
            </a:xfrm>
            <a:prstGeom prst="rect">
              <a:avLst/>
            </a:prstGeom>
          </p:spPr>
        </p:pic>
      </p:grpSp>
      <p:sp>
        <p:nvSpPr>
          <p:cNvPr id="19" name="Text 14"/>
          <p:cNvSpPr/>
          <p:nvPr/>
        </p:nvSpPr>
        <p:spPr>
          <a:xfrm>
            <a:off x="9418320" y="1956816"/>
            <a:ext cx="2075688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资料共享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418320" y="2377440"/>
            <a:ext cx="2075688" cy="56692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多分类、预览、下载、笔记与交流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85800" y="3749040"/>
            <a:ext cx="53218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grpSp>
        <p:nvGrpSpPr>
          <p:cNvPr id="32" name="Group 32"/>
          <p:cNvGrpSpPr/>
          <p:nvPr/>
        </p:nvGrpSpPr>
        <p:grpSpPr>
          <a:xfrm>
            <a:off x="850392" y="3931920"/>
            <a:ext cx="841248" cy="841248"/>
            <a:chOff x="850392" y="3931920"/>
            <a:chExt cx="841248" cy="841248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0392" y="3931920"/>
              <a:ext cx="841248" cy="841248"/>
            </a:xfrm>
            <a:prstGeom prst="rect">
              <a:avLst/>
            </a:prstGeom>
          </p:spPr>
        </p:pic>
      </p:grpSp>
      <p:sp>
        <p:nvSpPr>
          <p:cNvPr id="23" name="Text 17"/>
          <p:cNvSpPr/>
          <p:nvPr/>
        </p:nvSpPr>
        <p:spPr>
          <a:xfrm>
            <a:off x="1828800" y="3950208"/>
            <a:ext cx="3968496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服务论坛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828800" y="4370832"/>
            <a:ext cx="3968496" cy="56692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主题、回复、问题反馈与消息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480560" y="3749040"/>
            <a:ext cx="532180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4645152" y="3931920"/>
            <a:ext cx="841248" cy="841248"/>
            <a:chOff x="4645152" y="3931920"/>
            <a:chExt cx="841248" cy="841248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45152" y="3931920"/>
              <a:ext cx="841248" cy="841248"/>
            </a:xfrm>
            <a:prstGeom prst="rect">
              <a:avLst/>
            </a:prstGeom>
          </p:spPr>
        </p:pic>
      </p:grpSp>
      <p:sp>
        <p:nvSpPr>
          <p:cNvPr id="27" name="Text 20"/>
          <p:cNvSpPr/>
          <p:nvPr/>
        </p:nvSpPr>
        <p:spPr>
          <a:xfrm>
            <a:off x="5623560" y="3950208"/>
            <a:ext cx="3968496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应知应会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623560" y="4370832"/>
            <a:ext cx="3968496" cy="56692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栏目、知识点与模拟考试基础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始终区分三种状态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“代码里有”不等于“部署可用”，规划能力也不包装成现状。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456432" cy="3383280"/>
          </a:xfrm>
          <a:prstGeom prst="roundRect">
            <a:avLst>
              <a:gd name="adj" fmla="val 3243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932688" y="2212848"/>
            <a:ext cx="292608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已可用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2880360"/>
            <a:ext cx="2926080" cy="1417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资料多分类、组合筛选、PDF 阅读与笔记、论坛基础能力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07992" y="18745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EAF4EE"/>
          </a:solidFill>
          <a:ln w="12697">
            <a:solidFill>
              <a:schemeClr val="accent4"/>
            </a:solidFill>
          </a:ln>
        </p:spPr>
      </p:sp>
      <p:sp>
        <p:nvSpPr>
          <p:cNvPr id="13" name="Text 11"/>
          <p:cNvSpPr/>
          <p:nvPr/>
        </p:nvSpPr>
        <p:spPr>
          <a:xfrm>
            <a:off x="4754880" y="2212848"/>
            <a:ext cx="292608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正在验证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2926080" cy="1417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外部应用接入、离线环境适配、部分运行链路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30184" y="1874520"/>
            <a:ext cx="3456432" cy="3383280"/>
          </a:xfrm>
          <a:prstGeom prst="roundRect">
            <a:avLst>
              <a:gd name="adj" fmla="val 3243"/>
            </a:avLst>
          </a:prstGeom>
          <a:solidFill>
            <a:srgbClr val="EEF0FA"/>
          </a:solidFill>
          <a:ln w="12697">
            <a:solidFill>
              <a:schemeClr val="accent4"/>
            </a:solidFill>
          </a:ln>
        </p:spPr>
      </p:sp>
      <p:sp>
        <p:nvSpPr>
          <p:cNvPr id="16" name="Text 14"/>
          <p:cNvSpPr/>
          <p:nvPr/>
        </p:nvSpPr>
        <p:spPr>
          <a:xfrm>
            <a:off x="8577072" y="2212848"/>
            <a:ext cx="292608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77072" y="2880360"/>
            <a:ext cx="2926080" cy="1417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OCR、语音朗读、智能摘要、思维导图、智能问答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我是怎样一步步做出来的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人定目标和边界，AI 加速执行，工具提供证据。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89888" y="2368296"/>
            <a:ext cx="2907792" cy="0"/>
          </a:xfrm>
          <a:prstGeom prst="line">
            <a:avLst/>
          </a:prstGeom>
          <a:noFill/>
          <a:ln w="38100">
            <a:solidFill>
              <a:schemeClr val="accent3"/>
            </a:solidFill>
          </a:ln>
        </p:spPr>
      </p:sp>
      <p:sp>
        <p:nvSpPr>
          <p:cNvPr id="12" name="Text 10"/>
          <p:cNvSpPr/>
          <p:nvPr/>
        </p:nvSpPr>
        <p:spPr>
          <a:xfrm>
            <a:off x="53035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确定路线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业务目标、能力训练、运行约束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5" name="Text 13"/>
          <p:cNvSpPr/>
          <p:nvPr/>
        </p:nvSpPr>
        <p:spPr>
          <a:xfrm>
            <a:off x="429768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6048" y="2368296"/>
            <a:ext cx="2907792" cy="0"/>
          </a:xfrm>
          <a:prstGeom prst="line">
            <a:avLst/>
          </a:prstGeom>
          <a:noFill/>
          <a:ln w="38100">
            <a:solidFill>
              <a:schemeClr val="accent3"/>
            </a:solidFill>
          </a:ln>
        </p:spPr>
      </p:sp>
      <p:sp>
        <p:nvSpPr>
          <p:cNvPr id="17" name="Text 15"/>
          <p:cNvSpPr/>
          <p:nvPr/>
        </p:nvSpPr>
        <p:spPr>
          <a:xfrm>
            <a:off x="409651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可验证开发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9651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Spec、BC、Plan、实现与测试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20" name="Text 18"/>
          <p:cNvSpPr/>
          <p:nvPr/>
        </p:nvSpPr>
        <p:spPr>
          <a:xfrm>
            <a:off x="786384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267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集成部署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6267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服务依赖、配置、镜像与运行证据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先选架构，不先生成页面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9" name="Text 7"/>
          <p:cNvSpPr/>
          <p:nvPr/>
        </p:nvSpPr>
        <p:spPr>
          <a:xfrm>
            <a:off x="768096" y="1645920"/>
            <a:ext cx="1655064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572768"/>
            <a:ext cx="274320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1" name="Text 9"/>
          <p:cNvSpPr/>
          <p:nvPr/>
        </p:nvSpPr>
        <p:spPr>
          <a:xfrm>
            <a:off x="2715768" y="1645920"/>
            <a:ext cx="2523744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22392" y="1572768"/>
            <a:ext cx="292608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3" name="Text 11"/>
          <p:cNvSpPr/>
          <p:nvPr/>
        </p:nvSpPr>
        <p:spPr>
          <a:xfrm>
            <a:off x="5532120" y="1645920"/>
            <a:ext cx="2706624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21624" y="1572768"/>
            <a:ext cx="2852928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5" name="Text 13"/>
          <p:cNvSpPr/>
          <p:nvPr/>
        </p:nvSpPr>
        <p:spPr>
          <a:xfrm>
            <a:off x="8531352" y="1645920"/>
            <a:ext cx="263347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适用判断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2231136"/>
            <a:ext cx="187452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7" name="Text 15"/>
          <p:cNvSpPr/>
          <p:nvPr/>
        </p:nvSpPr>
        <p:spPr>
          <a:xfrm>
            <a:off x="768096" y="2286000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231136"/>
            <a:ext cx="274320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9" name="Text 17"/>
          <p:cNvSpPr/>
          <p:nvPr/>
        </p:nvSpPr>
        <p:spPr>
          <a:xfrm>
            <a:off x="2715768" y="2286000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开发部署简单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22392" y="2231136"/>
            <a:ext cx="292608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21" name="Text 19"/>
          <p:cNvSpPr/>
          <p:nvPr/>
        </p:nvSpPr>
        <p:spPr>
          <a:xfrm>
            <a:off x="5532120" y="2286000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边界易腐化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21624" y="2231136"/>
            <a:ext cx="2852928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23" name="Text 21"/>
          <p:cNvSpPr/>
          <p:nvPr/>
        </p:nvSpPr>
        <p:spPr>
          <a:xfrm>
            <a:off x="8531352" y="2286000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小团队、低复杂度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3081528"/>
            <a:ext cx="18745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5" name="Text 23"/>
          <p:cNvSpPr/>
          <p:nvPr/>
        </p:nvSpPr>
        <p:spPr>
          <a:xfrm>
            <a:off x="768096" y="3136392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模块化单体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06040" y="3081528"/>
            <a:ext cx="27432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7" name="Text 25"/>
          <p:cNvSpPr/>
          <p:nvPr/>
        </p:nvSpPr>
        <p:spPr>
          <a:xfrm>
            <a:off x="2715768" y="3136392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边界清楚、运维轻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22392" y="3081528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9" name="Text 27"/>
          <p:cNvSpPr/>
          <p:nvPr/>
        </p:nvSpPr>
        <p:spPr>
          <a:xfrm>
            <a:off x="5532120" y="3136392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独立发布能力有限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421624" y="3081528"/>
            <a:ext cx="285292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31" name="Text 29"/>
          <p:cNvSpPr/>
          <p:nvPr/>
        </p:nvSpPr>
        <p:spPr>
          <a:xfrm>
            <a:off x="8531352" y="3136392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多数内部系统的优先选项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" y="3931920"/>
            <a:ext cx="187452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3" name="Text 31"/>
          <p:cNvSpPr/>
          <p:nvPr/>
        </p:nvSpPr>
        <p:spPr>
          <a:xfrm>
            <a:off x="768096" y="3986784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06040" y="3931920"/>
            <a:ext cx="274320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5" name="Text 33"/>
          <p:cNvSpPr/>
          <p:nvPr/>
        </p:nvSpPr>
        <p:spPr>
          <a:xfrm>
            <a:off x="2715768" y="3986784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独立发布、故障隔离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22392" y="3931920"/>
            <a:ext cx="292608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7" name="Text 35"/>
          <p:cNvSpPr/>
          <p:nvPr/>
        </p:nvSpPr>
        <p:spPr>
          <a:xfrm>
            <a:off x="5532120" y="3986784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通信、治理、部署复杂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21624" y="3931920"/>
            <a:ext cx="2852928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9" name="Text 37"/>
          <p:cNvSpPr/>
          <p:nvPr/>
        </p:nvSpPr>
        <p:spPr>
          <a:xfrm>
            <a:off x="8531352" y="3986784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边界稳定且确有独立演进需求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" y="4782312"/>
            <a:ext cx="18745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1" name="Text 39"/>
          <p:cNvSpPr/>
          <p:nvPr/>
        </p:nvSpPr>
        <p:spPr>
          <a:xfrm>
            <a:off x="768096" y="4837176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06040" y="4782312"/>
            <a:ext cx="27432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3" name="Text 41"/>
          <p:cNvSpPr/>
          <p:nvPr/>
        </p:nvSpPr>
        <p:spPr>
          <a:xfrm>
            <a:off x="2715768" y="4837176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自动化、可观察、可恢复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22392" y="4782312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5" name="Text 43"/>
          <p:cNvSpPr/>
          <p:nvPr/>
        </p:nvSpPr>
        <p:spPr>
          <a:xfrm>
            <a:off x="5532120" y="4837176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平台与组织能力要求高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21624" y="4782312"/>
            <a:ext cx="285292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7" name="Text 45"/>
          <p:cNvSpPr/>
          <p:nvPr/>
        </p:nvSpPr>
        <p:spPr>
          <a:xfrm>
            <a:off x="8531352" y="4837176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是一组能力，不是“K8s 标签”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24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3300"/>
                            </p:stCondLst>
                            <p:childTnLst>
                              <p:par>
                                <p:cTn id="1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4200"/>
                            </p:stCondLst>
                            <p:childTnLst>
                              <p:par>
                                <p:cTn id="1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5100"/>
                            </p:stCondLst>
                            <p:childTnLst>
                              <p:par>
                                <p:cTn id="1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6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6000"/>
                            </p:stCondLst>
                            <p:childTnLst>
                              <p:par>
                                <p:cTn id="1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6900"/>
                            </p:stCondLst>
                            <p:childTnLst>
                              <p:par>
                                <p:cTn id="1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7800"/>
                            </p:stCondLst>
                            <p:childTnLst>
                              <p:par>
                                <p:cTn id="1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8700"/>
                            </p:stCondLst>
                            <p:childTnLst>
                              <p:par>
                                <p:cTn id="1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7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9600"/>
                            </p:stCondLst>
                            <p:childTnLst>
                              <p:par>
                                <p:cTn id="1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0500"/>
                            </p:stCondLst>
                            <p:childTnLst>
                              <p:par>
                                <p:cTn id="1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开源底座比较：按目标匹配，不按热度选择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187452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9" name="Text 7"/>
          <p:cNvSpPr/>
          <p:nvPr/>
        </p:nvSpPr>
        <p:spPr>
          <a:xfrm>
            <a:off x="768096" y="1645920"/>
            <a:ext cx="1655064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572768"/>
            <a:ext cx="274320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1" name="Text 9"/>
          <p:cNvSpPr/>
          <p:nvPr/>
        </p:nvSpPr>
        <p:spPr>
          <a:xfrm>
            <a:off x="2715768" y="1645920"/>
            <a:ext cx="2523744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形态侧重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22392" y="1572768"/>
            <a:ext cx="292608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3" name="Text 11"/>
          <p:cNvSpPr/>
          <p:nvPr/>
        </p:nvSpPr>
        <p:spPr>
          <a:xfrm>
            <a:off x="5532120" y="1645920"/>
            <a:ext cx="2706624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21624" y="1572768"/>
            <a:ext cx="2852928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5" name="Text 13"/>
          <p:cNvSpPr/>
          <p:nvPr/>
        </p:nvSpPr>
        <p:spPr>
          <a:xfrm>
            <a:off x="8531352" y="1645920"/>
            <a:ext cx="263347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本项目判断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2231136"/>
            <a:ext cx="187452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7" name="Text 15"/>
          <p:cNvSpPr/>
          <p:nvPr/>
        </p:nvSpPr>
        <p:spPr>
          <a:xfrm>
            <a:off x="768096" y="2286000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RuoYi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231136"/>
            <a:ext cx="274320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9" name="Text 17"/>
          <p:cNvSpPr/>
          <p:nvPr/>
        </p:nvSpPr>
        <p:spPr>
          <a:xfrm>
            <a:off x="2715768" y="2286000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单体脚手架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22392" y="2231136"/>
            <a:ext cx="292608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21" name="Text 19"/>
          <p:cNvSpPr/>
          <p:nvPr/>
        </p:nvSpPr>
        <p:spPr>
          <a:xfrm>
            <a:off x="5532120" y="2286000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简单、成熟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21624" y="2231136"/>
            <a:ext cx="2852928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23" name="Text 21"/>
          <p:cNvSpPr/>
          <p:nvPr/>
        </p:nvSpPr>
        <p:spPr>
          <a:xfrm>
            <a:off x="8531352" y="2286000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业务够用，云原生训练不足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3081528"/>
            <a:ext cx="18745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5" name="Text 23"/>
          <p:cNvSpPr/>
          <p:nvPr/>
        </p:nvSpPr>
        <p:spPr>
          <a:xfrm>
            <a:off x="768096" y="3136392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RuoYi-Cloud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06040" y="3081528"/>
            <a:ext cx="27432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7" name="Text 25"/>
          <p:cNvSpPr/>
          <p:nvPr/>
        </p:nvSpPr>
        <p:spPr>
          <a:xfrm>
            <a:off x="2715768" y="3136392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微服务基础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22392" y="3081528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9" name="Text 27"/>
          <p:cNvSpPr/>
          <p:nvPr/>
        </p:nvSpPr>
        <p:spPr>
          <a:xfrm>
            <a:off x="5532120" y="3136392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生态认知广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421624" y="3081528"/>
            <a:ext cx="285292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31" name="Text 29"/>
          <p:cNvSpPr/>
          <p:nvPr/>
        </p:nvSpPr>
        <p:spPr>
          <a:xfrm>
            <a:off x="8531352" y="3136392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可用，但工程增强较少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" y="3931920"/>
            <a:ext cx="187452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3" name="Text 31"/>
          <p:cNvSpPr/>
          <p:nvPr/>
        </p:nvSpPr>
        <p:spPr>
          <a:xfrm>
            <a:off x="768096" y="3986784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JeecgBoot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606040" y="3931920"/>
            <a:ext cx="274320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5" name="Text 33"/>
          <p:cNvSpPr/>
          <p:nvPr/>
        </p:nvSpPr>
        <p:spPr>
          <a:xfrm>
            <a:off x="2715768" y="3986784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低代码/快速交付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22392" y="3931920"/>
            <a:ext cx="292608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7" name="Text 35"/>
          <p:cNvSpPr/>
          <p:nvPr/>
        </p:nvSpPr>
        <p:spPr>
          <a:xfrm>
            <a:off x="5532120" y="3986784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表单与代码生成强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21624" y="3931920"/>
            <a:ext cx="2852928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9" name="Text 37"/>
          <p:cNvSpPr/>
          <p:nvPr/>
        </p:nvSpPr>
        <p:spPr>
          <a:xfrm>
            <a:off x="8531352" y="3986784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与训练自主架构目标不同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58368" y="4782312"/>
            <a:ext cx="18745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1" name="Text 39"/>
          <p:cNvSpPr/>
          <p:nvPr/>
        </p:nvSpPr>
        <p:spPr>
          <a:xfrm>
            <a:off x="768096" y="4837176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Yudao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06040" y="4782312"/>
            <a:ext cx="274320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3" name="Text 41"/>
          <p:cNvSpPr/>
          <p:nvPr/>
        </p:nvSpPr>
        <p:spPr>
          <a:xfrm>
            <a:off x="2715768" y="4837176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模块化业务平台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22392" y="4782312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5" name="Text 43"/>
          <p:cNvSpPr/>
          <p:nvPr/>
        </p:nvSpPr>
        <p:spPr>
          <a:xfrm>
            <a:off x="5532120" y="4837176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业务模块丰富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21624" y="4782312"/>
            <a:ext cx="2852928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7" name="Text 45"/>
          <p:cNvSpPr/>
          <p:nvPr/>
        </p:nvSpPr>
        <p:spPr>
          <a:xfrm>
            <a:off x="8531352" y="4837176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功能面广，裁剪成本较高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8368" y="5632704"/>
            <a:ext cx="187452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49" name="Text 47"/>
          <p:cNvSpPr/>
          <p:nvPr/>
        </p:nvSpPr>
        <p:spPr>
          <a:xfrm>
            <a:off x="768096" y="5687568"/>
            <a:ext cx="165506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RuoYi-Cloud-Plus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606040" y="5632704"/>
            <a:ext cx="274320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51" name="Text 49"/>
          <p:cNvSpPr/>
          <p:nvPr/>
        </p:nvSpPr>
        <p:spPr>
          <a:xfrm>
            <a:off x="2715768" y="5687568"/>
            <a:ext cx="252374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微服务工程底座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22392" y="5632704"/>
            <a:ext cx="2926080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53" name="Text 51"/>
          <p:cNvSpPr/>
          <p:nvPr/>
        </p:nvSpPr>
        <p:spPr>
          <a:xfrm>
            <a:off x="5532120" y="5687568"/>
            <a:ext cx="2706624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多租户、网关、配置、文件能力完整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421624" y="5632704"/>
            <a:ext cx="2852928" cy="713232"/>
          </a:xfrm>
          <a:prstGeom prst="roundRect">
            <a:avLst>
              <a:gd name="adj" fmla="val 512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55" name="Text 53"/>
          <p:cNvSpPr/>
          <p:nvPr/>
        </p:nvSpPr>
        <p:spPr>
          <a:xfrm>
            <a:off x="8531352" y="5687568"/>
            <a:ext cx="2633472" cy="5760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选择后继续裁剪和重构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2400"/>
                            </p:stCondLst>
                            <p:childTnLst>
                              <p:par>
                                <p:cTn id="1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3300"/>
                            </p:stCondLst>
                            <p:childTnLst>
                              <p:par>
                                <p:cTn id="1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42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5100"/>
                            </p:stCondLst>
                            <p:childTnLst>
                              <p:par>
                                <p:cTn id="1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6000"/>
                            </p:stCondLst>
                            <p:childTnLst>
                              <p:par>
                                <p:cTn id="1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6900"/>
                            </p:stCondLst>
                            <p:childTnLst>
                              <p:par>
                                <p:cTn id="1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7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78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8700"/>
                            </p:stCondLst>
                            <p:childTnLst>
                              <p:par>
                                <p:cTn id="1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9600"/>
                            </p:stCondLst>
                            <p:childTnLst>
                              <p:par>
                                <p:cTn id="1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0500"/>
                            </p:stCondLst>
                            <p:childTnLst>
                              <p:par>
                                <p:cTn id="1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8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41400"/>
                            </p:stCondLst>
                            <p:childTnLst>
                              <p:par>
                                <p:cTn id="1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42300"/>
                            </p:stCondLst>
                            <p:childTnLst>
                              <p:par>
                                <p:cTn id="1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43200"/>
                            </p:stCondLst>
                            <p:childTnLst>
                              <p:par>
                                <p:cTn id="1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44100"/>
                            </p:stCondLst>
                            <p:childTnLst>
                              <p:par>
                                <p:cTn id="20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0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45000"/>
                            </p:stCondLst>
                            <p:childTnLst>
                              <p:par>
                                <p:cTn id="2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45900"/>
                            </p:stCondLst>
                            <p:childTnLst>
                              <p:par>
                                <p:cTn id="2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46800"/>
                            </p:stCondLst>
                            <p:childTnLst>
                              <p:par>
                                <p:cTn id="2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47700"/>
                            </p:stCondLst>
                            <p:childTnLst>
                              <p:par>
                                <p:cTn id="2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业务上，模块化单体已经够用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94944" y="1508760"/>
            <a:ext cx="6675120" cy="111556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选择微服务底座，是一次有意识的能力训练。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13232" y="2907792"/>
            <a:ext cx="5943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Shape 8"/>
          <p:cNvSpPr/>
          <p:nvPr/>
        </p:nvSpPr>
        <p:spPr>
          <a:xfrm>
            <a:off x="914400" y="3108960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1" name="Text 9"/>
          <p:cNvSpPr/>
          <p:nvPr/>
        </p:nvSpPr>
        <p:spPr>
          <a:xfrm>
            <a:off x="914400" y="3118104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44752" y="3072384"/>
            <a:ext cx="49834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grpSp>
        <p:nvGrpSpPr>
          <p:cNvPr id="26" name="Group 26"/>
          <p:cNvGrpSpPr/>
          <p:nvPr/>
        </p:nvGrpSpPr>
        <p:grpSpPr>
          <a:xfrm>
            <a:off x="935991" y="3529579"/>
            <a:ext cx="2488151" cy="224868"/>
            <a:chOff x="935991" y="3529579"/>
            <a:chExt cx="2488151" cy="224868"/>
          </a:xfrm>
        </p:grpSpPr>
        <p:sp>
          <p:nvSpPr>
            <p:cNvPr id="25" name="TextBox 25"/>
            <p:cNvSpPr txBox="1"/>
            <p:nvPr/>
          </p:nvSpPr>
          <p:spPr>
            <a:xfrm>
              <a:off x="935991" y="3529579"/>
              <a:ext cx="2488151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训练服务拆分、容器化与云原生能力</a:t>
              </a:r>
            </a:p>
          </p:txBody>
        </p:sp>
      </p:grpSp>
      <p:sp>
        <p:nvSpPr>
          <p:cNvPr id="14" name="Shape 12"/>
          <p:cNvSpPr/>
          <p:nvPr/>
        </p:nvSpPr>
        <p:spPr>
          <a:xfrm>
            <a:off x="713232" y="3840480"/>
            <a:ext cx="5943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5" name="Shape 13"/>
          <p:cNvSpPr/>
          <p:nvPr/>
        </p:nvSpPr>
        <p:spPr>
          <a:xfrm>
            <a:off x="914400" y="404164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6" name="Text 14"/>
          <p:cNvSpPr/>
          <p:nvPr/>
        </p:nvSpPr>
        <p:spPr>
          <a:xfrm>
            <a:off x="914400" y="405079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44752" y="4005072"/>
            <a:ext cx="49834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grpSp>
        <p:nvGrpSpPr>
          <p:cNvPr id="28" name="Group 28"/>
          <p:cNvGrpSpPr/>
          <p:nvPr/>
        </p:nvGrpSpPr>
        <p:grpSpPr>
          <a:xfrm>
            <a:off x="935991" y="4462267"/>
            <a:ext cx="4787062" cy="224868"/>
            <a:chOff x="935991" y="4462267"/>
            <a:chExt cx="4787062" cy="224868"/>
          </a:xfrm>
        </p:grpSpPr>
        <p:sp>
          <p:nvSpPr>
            <p:cNvPr id="27" name="TextBox 27"/>
            <p:cNvSpPr txBox="1"/>
            <p:nvPr/>
          </p:nvSpPr>
          <p:spPr>
            <a:xfrm>
              <a:off x="935991" y="4462267"/>
              <a:ext cx="4787062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适应模块独立发布、麒麟 V10、飞腾 ARM64、离线部署等现实约束</a:t>
              </a:r>
            </a:p>
          </p:txBody>
        </p:sp>
      </p:grpSp>
      <p:sp>
        <p:nvSpPr>
          <p:cNvPr id="19" name="Shape 17"/>
          <p:cNvSpPr/>
          <p:nvPr/>
        </p:nvSpPr>
        <p:spPr>
          <a:xfrm>
            <a:off x="713232" y="4773168"/>
            <a:ext cx="5943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0" name="Shape 18"/>
          <p:cNvSpPr/>
          <p:nvPr/>
        </p:nvSpPr>
        <p:spPr>
          <a:xfrm>
            <a:off x="914400" y="4974336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1" name="Text 19"/>
          <p:cNvSpPr/>
          <p:nvPr/>
        </p:nvSpPr>
        <p:spPr>
          <a:xfrm>
            <a:off x="914400" y="4983480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44752" y="4937760"/>
            <a:ext cx="49834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grpSp>
        <p:nvGrpSpPr>
          <p:cNvPr id="30" name="Group 30"/>
          <p:cNvGrpSpPr/>
          <p:nvPr/>
        </p:nvGrpSpPr>
        <p:grpSpPr>
          <a:xfrm>
            <a:off x="935991" y="5394955"/>
            <a:ext cx="2952489" cy="224868"/>
            <a:chOff x="935991" y="5394955"/>
            <a:chExt cx="2952489" cy="224868"/>
          </a:xfrm>
        </p:grpSpPr>
        <p:sp>
          <p:nvSpPr>
            <p:cNvPr id="29" name="TextBox 29"/>
            <p:cNvSpPr txBox="1"/>
            <p:nvPr/>
          </p:nvSpPr>
          <p:spPr>
            <a:xfrm>
              <a:off x="935991" y="5394955"/>
              <a:ext cx="2952489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先裁剪通用底座，再建设自己的门户业务域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43800" y="1417320"/>
            <a:ext cx="4023360" cy="4526280"/>
            <a:chOff x="7543800" y="1417320"/>
            <a:chExt cx="4023360" cy="452628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3800" y="1417320"/>
              <a:ext cx="4023360" cy="452628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案例：资料“多分类”不是加一张表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94944" y="1536192"/>
            <a:ext cx="1083564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9" name="Text 7"/>
          <p:cNvSpPr/>
          <p:nvPr/>
        </p:nvSpPr>
        <p:spPr>
          <a:xfrm>
            <a:off x="932688" y="1755648"/>
            <a:ext cx="96012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1700784"/>
            <a:ext cx="9052560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同一份资料可能属于多个主题，用户还要按栏目、分类和关键词组合查找。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3232" y="3090672"/>
            <a:ext cx="566928" cy="56692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2" name="Text 10"/>
          <p:cNvSpPr/>
          <p:nvPr/>
        </p:nvSpPr>
        <p:spPr>
          <a:xfrm>
            <a:off x="713232" y="3099816"/>
            <a:ext cx="566928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3794760"/>
            <a:ext cx="123444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3374136"/>
            <a:ext cx="1243584" cy="0"/>
          </a:xfrm>
          <a:prstGeom prst="line">
            <a:avLst/>
          </a:prstGeom>
          <a:noFill/>
          <a:ln w="25403">
            <a:solidFill>
              <a:schemeClr val="accent4"/>
            </a:solidFill>
          </a:ln>
        </p:spPr>
      </p:sp>
      <p:sp>
        <p:nvSpPr>
          <p:cNvPr id="15" name="Shape 13"/>
          <p:cNvSpPr/>
          <p:nvPr/>
        </p:nvSpPr>
        <p:spPr>
          <a:xfrm>
            <a:off x="2523744" y="3090672"/>
            <a:ext cx="566928" cy="566928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16" name="Text 14"/>
          <p:cNvSpPr/>
          <p:nvPr/>
        </p:nvSpPr>
        <p:spPr>
          <a:xfrm>
            <a:off x="2523744" y="3099816"/>
            <a:ext cx="566928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03704" y="3794760"/>
            <a:ext cx="123444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范围与验收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90672" y="3374136"/>
            <a:ext cx="1243584" cy="0"/>
          </a:xfrm>
          <a:prstGeom prst="line">
            <a:avLst/>
          </a:prstGeom>
          <a:noFill/>
          <a:ln w="25403">
            <a:solidFill>
              <a:schemeClr val="accent4"/>
            </a:solidFill>
          </a:ln>
        </p:spPr>
      </p:sp>
      <p:sp>
        <p:nvSpPr>
          <p:cNvPr id="19" name="Shape 17"/>
          <p:cNvSpPr/>
          <p:nvPr/>
        </p:nvSpPr>
        <p:spPr>
          <a:xfrm>
            <a:off x="4334256" y="3090672"/>
            <a:ext cx="566928" cy="566928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20" name="Text 18"/>
          <p:cNvSpPr/>
          <p:nvPr/>
        </p:nvSpPr>
        <p:spPr>
          <a:xfrm>
            <a:off x="4334256" y="3099816"/>
            <a:ext cx="566928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14216" y="3794760"/>
            <a:ext cx="123444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01184" y="3374136"/>
            <a:ext cx="1243584" cy="0"/>
          </a:xfrm>
          <a:prstGeom prst="line">
            <a:avLst/>
          </a:prstGeom>
          <a:noFill/>
          <a:ln w="25403">
            <a:solidFill>
              <a:schemeClr val="accent4"/>
            </a:solidFill>
          </a:ln>
        </p:spPr>
      </p:sp>
      <p:sp>
        <p:nvSpPr>
          <p:cNvPr id="23" name="Shape 21"/>
          <p:cNvSpPr/>
          <p:nvPr/>
        </p:nvSpPr>
        <p:spPr>
          <a:xfrm>
            <a:off x="6144768" y="3090672"/>
            <a:ext cx="566928" cy="566928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24" name="Text 22"/>
          <p:cNvSpPr/>
          <p:nvPr/>
        </p:nvSpPr>
        <p:spPr>
          <a:xfrm>
            <a:off x="6144768" y="3099816"/>
            <a:ext cx="566928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24728" y="3794760"/>
            <a:ext cx="123444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数据迁移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11696" y="3374136"/>
            <a:ext cx="1243584" cy="0"/>
          </a:xfrm>
          <a:prstGeom prst="line">
            <a:avLst/>
          </a:prstGeom>
          <a:noFill/>
          <a:ln w="25403">
            <a:solidFill>
              <a:schemeClr val="accent4"/>
            </a:solidFill>
          </a:ln>
        </p:spPr>
      </p:sp>
      <p:sp>
        <p:nvSpPr>
          <p:cNvPr id="27" name="Shape 25"/>
          <p:cNvSpPr/>
          <p:nvPr/>
        </p:nvSpPr>
        <p:spPr>
          <a:xfrm>
            <a:off x="7955280" y="3090672"/>
            <a:ext cx="566928" cy="566928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28" name="Text 26"/>
          <p:cNvSpPr/>
          <p:nvPr/>
        </p:nvSpPr>
        <p:spPr>
          <a:xfrm>
            <a:off x="7955280" y="3099816"/>
            <a:ext cx="566928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3794760"/>
            <a:ext cx="123444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前后端实现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22208" y="3374136"/>
            <a:ext cx="1243584" cy="0"/>
          </a:xfrm>
          <a:prstGeom prst="line">
            <a:avLst/>
          </a:prstGeom>
          <a:noFill/>
          <a:ln w="25403">
            <a:solidFill>
              <a:schemeClr val="accent4"/>
            </a:solidFill>
          </a:ln>
        </p:spPr>
      </p:sp>
      <p:sp>
        <p:nvSpPr>
          <p:cNvPr id="31" name="Shape 29"/>
          <p:cNvSpPr/>
          <p:nvPr/>
        </p:nvSpPr>
        <p:spPr>
          <a:xfrm>
            <a:off x="9765792" y="3090672"/>
            <a:ext cx="566928" cy="56692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32" name="Text 30"/>
          <p:cNvSpPr/>
          <p:nvPr/>
        </p:nvSpPr>
        <p:spPr>
          <a:xfrm>
            <a:off x="9765792" y="3099816"/>
            <a:ext cx="566928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45752" y="3794760"/>
            <a:ext cx="123444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行为验证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846320"/>
            <a:ext cx="10698480" cy="43891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业务问题被转换为一条可追溯、可验证的变更。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先形成 Spec，再让 AI 动手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345643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9" name="Shape 7"/>
          <p:cNvSpPr/>
          <p:nvPr/>
        </p:nvSpPr>
        <p:spPr>
          <a:xfrm>
            <a:off x="886968" y="1828800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0" name="Text 8"/>
          <p:cNvSpPr/>
          <p:nvPr/>
        </p:nvSpPr>
        <p:spPr>
          <a:xfrm>
            <a:off x="886968" y="1837944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792224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249424"/>
            <a:ext cx="2999232" cy="8412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用户场景、功能范围、验收条件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1627632"/>
            <a:ext cx="345643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Shape 12"/>
          <p:cNvSpPr/>
          <p:nvPr/>
        </p:nvSpPr>
        <p:spPr>
          <a:xfrm>
            <a:off x="4681728" y="1828800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5" name="Text 13"/>
          <p:cNvSpPr/>
          <p:nvPr/>
        </p:nvSpPr>
        <p:spPr>
          <a:xfrm>
            <a:off x="4681728" y="1837944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792224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2249424"/>
            <a:ext cx="2999232" cy="8412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本次明确排除项，控制变更半径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75320" y="1627632"/>
            <a:ext cx="345643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9" name="Shape 17"/>
          <p:cNvSpPr/>
          <p:nvPr/>
        </p:nvSpPr>
        <p:spPr>
          <a:xfrm>
            <a:off x="8476488" y="1828800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0" name="Text 18"/>
          <p:cNvSpPr/>
          <p:nvPr/>
        </p:nvSpPr>
        <p:spPr>
          <a:xfrm>
            <a:off x="8476488" y="1837944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06840" y="1792224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归属哪里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2249424"/>
            <a:ext cx="2999232" cy="8412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业务域、数据所有权、权限与契约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602736"/>
            <a:ext cx="345643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4" name="Shape 22"/>
          <p:cNvSpPr/>
          <p:nvPr/>
        </p:nvSpPr>
        <p:spPr>
          <a:xfrm>
            <a:off x="886968" y="3803904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5" name="Text 23"/>
          <p:cNvSpPr/>
          <p:nvPr/>
        </p:nvSpPr>
        <p:spPr>
          <a:xfrm>
            <a:off x="886968" y="3813048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3767328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怎样兼容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224528"/>
            <a:ext cx="2999232" cy="8412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旧数据、增量脚本、回滚与迁移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80560" y="3602736"/>
            <a:ext cx="345643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9" name="Shape 27"/>
          <p:cNvSpPr/>
          <p:nvPr/>
        </p:nvSpPr>
        <p:spPr>
          <a:xfrm>
            <a:off x="4681728" y="3803904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30" name="Text 28"/>
          <p:cNvSpPr/>
          <p:nvPr/>
        </p:nvSpPr>
        <p:spPr>
          <a:xfrm>
            <a:off x="4681728" y="3813048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3767328"/>
            <a:ext cx="2496312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09160" y="4224528"/>
            <a:ext cx="2999232" cy="8412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编译、测试、构建、接口与端到端证据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 不是画图，是约束变化的边界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例如资料审核通知：Resources 发布事件，由 Kernel 生成消息。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1874520" cy="713232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0" name="Text 8"/>
          <p:cNvSpPr/>
          <p:nvPr/>
        </p:nvSpPr>
        <p:spPr>
          <a:xfrm>
            <a:off x="804672" y="1856232"/>
            <a:ext cx="169164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Portal Kernel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169164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2" name="Text 10"/>
          <p:cNvSpPr/>
          <p:nvPr/>
        </p:nvSpPr>
        <p:spPr>
          <a:xfrm>
            <a:off x="2971800" y="1856232"/>
            <a:ext cx="169164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Center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47488" y="169164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5138928" y="1856232"/>
            <a:ext cx="169164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214616" y="169164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6" name="Text 14"/>
          <p:cNvSpPr/>
          <p:nvPr/>
        </p:nvSpPr>
        <p:spPr>
          <a:xfrm>
            <a:off x="7306056" y="1856232"/>
            <a:ext cx="169164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81744" y="1691640"/>
            <a:ext cx="18745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9473184" y="1856232"/>
            <a:ext cx="169164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Knowledge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2788920"/>
            <a:ext cx="5166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0" name="Shape 18"/>
          <p:cNvSpPr/>
          <p:nvPr/>
        </p:nvSpPr>
        <p:spPr>
          <a:xfrm>
            <a:off x="950976" y="299008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1" name="Text 19"/>
          <p:cNvSpPr/>
          <p:nvPr/>
        </p:nvSpPr>
        <p:spPr>
          <a:xfrm>
            <a:off x="950976" y="299923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81328" y="2953512"/>
            <a:ext cx="42062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" y="3410712"/>
            <a:ext cx="470916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业务服务之间禁止任意同步互调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6208" y="2788920"/>
            <a:ext cx="5166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5" name="Shape 23"/>
          <p:cNvSpPr/>
          <p:nvPr/>
        </p:nvSpPr>
        <p:spPr>
          <a:xfrm>
            <a:off x="6437376" y="299008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6" name="Text 24"/>
          <p:cNvSpPr/>
          <p:nvPr/>
        </p:nvSpPr>
        <p:spPr>
          <a:xfrm>
            <a:off x="6437376" y="299923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67728" y="2953512"/>
            <a:ext cx="42062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64808" y="3410712"/>
            <a:ext cx="470916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跨域数据不走跨界 SQL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9808" y="4023360"/>
            <a:ext cx="5166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30" name="Shape 28"/>
          <p:cNvSpPr/>
          <p:nvPr/>
        </p:nvSpPr>
        <p:spPr>
          <a:xfrm>
            <a:off x="950976" y="422452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31" name="Text 29"/>
          <p:cNvSpPr/>
          <p:nvPr/>
        </p:nvSpPr>
        <p:spPr>
          <a:xfrm>
            <a:off x="950976" y="423367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81328" y="4187952"/>
            <a:ext cx="42062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" y="4645152"/>
            <a:ext cx="470916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BC 协作优先通过 RabbitMQ 事件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36208" y="4023360"/>
            <a:ext cx="5166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35" name="Shape 33"/>
          <p:cNvSpPr/>
          <p:nvPr/>
        </p:nvSpPr>
        <p:spPr>
          <a:xfrm>
            <a:off x="6437376" y="422452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36" name="Text 34"/>
          <p:cNvSpPr/>
          <p:nvPr/>
        </p:nvSpPr>
        <p:spPr>
          <a:xfrm>
            <a:off x="6437376" y="423367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67728" y="4187952"/>
            <a:ext cx="42062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64808" y="4645152"/>
            <a:ext cx="470916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消息、收藏、统计与模块注册只存在于 Kernel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2400"/>
                            </p:stCondLst>
                            <p:childTnLst>
                              <p:par>
                                <p:cTn id="1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参与的是一个闭环，不是一次生成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阅读真实仓库、沿既有模式修改、分析失败并复测；人掌握目标、架构、验收与合并。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9824" y="1261872"/>
            <a:ext cx="1280160" cy="585216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5522976" y="1371600"/>
            <a:ext cx="1133856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31585" y="2290572"/>
            <a:ext cx="128016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2" name="Text 10"/>
          <p:cNvSpPr/>
          <p:nvPr/>
        </p:nvSpPr>
        <p:spPr>
          <a:xfrm>
            <a:off x="7304737" y="2400300"/>
            <a:ext cx="1133856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31585" y="4347972"/>
            <a:ext cx="1280160" cy="585216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7304737" y="4457700"/>
            <a:ext cx="1133856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5376672"/>
            <a:ext cx="128016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6" name="Text 14"/>
          <p:cNvSpPr/>
          <p:nvPr/>
        </p:nvSpPr>
        <p:spPr>
          <a:xfrm>
            <a:off x="5522976" y="5486400"/>
            <a:ext cx="1133856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68063" y="4347972"/>
            <a:ext cx="1280160" cy="585216"/>
          </a:xfrm>
          <a:prstGeom prst="roundRect">
            <a:avLst>
              <a:gd name="adj" fmla="val 18750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3741215" y="4457700"/>
            <a:ext cx="1133856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工具验证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68063" y="2290572"/>
            <a:ext cx="128016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0" name="Text 18"/>
          <p:cNvSpPr/>
          <p:nvPr/>
        </p:nvSpPr>
        <p:spPr>
          <a:xfrm>
            <a:off x="3741215" y="2400300"/>
            <a:ext cx="1133856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人工验收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31536" y="2953512"/>
            <a:ext cx="1316736" cy="1316736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22" name="Text 20"/>
          <p:cNvSpPr/>
          <p:nvPr/>
        </p:nvSpPr>
        <p:spPr>
          <a:xfrm>
            <a:off x="5431536" y="3319272"/>
            <a:ext cx="1316736" cy="41148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验证是一条证据链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每一级回答不同问题，任何一级都不能替代下一层。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627632" cy="26974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Shape 8"/>
          <p:cNvSpPr/>
          <p:nvPr/>
        </p:nvSpPr>
        <p:spPr>
          <a:xfrm>
            <a:off x="1197864" y="2176272"/>
            <a:ext cx="603504" cy="603504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1" name="Text 9"/>
          <p:cNvSpPr/>
          <p:nvPr/>
        </p:nvSpPr>
        <p:spPr>
          <a:xfrm>
            <a:off x="1197864" y="2194560"/>
            <a:ext cx="603504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135331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静态检查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675888"/>
            <a:ext cx="1353312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结构与规则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13432" y="2752344"/>
            <a:ext cx="237744" cy="0"/>
          </a:xfrm>
          <a:prstGeom prst="line">
            <a:avLst/>
          </a:prstGeom>
          <a:noFill/>
          <a:ln w="25403">
            <a:solidFill>
              <a:schemeClr val="accent1"/>
            </a:solidFill>
          </a:ln>
        </p:spPr>
      </p:sp>
      <p:sp>
        <p:nvSpPr>
          <p:cNvPr id="15" name="Shape 13"/>
          <p:cNvSpPr/>
          <p:nvPr/>
        </p:nvSpPr>
        <p:spPr>
          <a:xfrm>
            <a:off x="2551176" y="1874520"/>
            <a:ext cx="1627632" cy="26974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6" name="Shape 14"/>
          <p:cNvSpPr/>
          <p:nvPr/>
        </p:nvSpPr>
        <p:spPr>
          <a:xfrm>
            <a:off x="3063240" y="2176272"/>
            <a:ext cx="603504" cy="603504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7" name="Text 15"/>
          <p:cNvSpPr/>
          <p:nvPr/>
        </p:nvSpPr>
        <p:spPr>
          <a:xfrm>
            <a:off x="3063240" y="2194560"/>
            <a:ext cx="603504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88336" y="3063240"/>
            <a:ext cx="135331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编译/单测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88336" y="3675888"/>
            <a:ext cx="1353312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代码与模块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78808" y="2752344"/>
            <a:ext cx="237744" cy="0"/>
          </a:xfrm>
          <a:prstGeom prst="line">
            <a:avLst/>
          </a:prstGeom>
          <a:noFill/>
          <a:ln w="25403">
            <a:solidFill>
              <a:schemeClr val="accent1"/>
            </a:solidFill>
          </a:ln>
        </p:spPr>
      </p:sp>
      <p:sp>
        <p:nvSpPr>
          <p:cNvPr id="21" name="Shape 19"/>
          <p:cNvSpPr/>
          <p:nvPr/>
        </p:nvSpPr>
        <p:spPr>
          <a:xfrm>
            <a:off x="4416552" y="1874520"/>
            <a:ext cx="1627632" cy="26974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2" name="Shape 20"/>
          <p:cNvSpPr/>
          <p:nvPr/>
        </p:nvSpPr>
        <p:spPr>
          <a:xfrm>
            <a:off x="4928616" y="2176272"/>
            <a:ext cx="603504" cy="603504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23" name="Text 21"/>
          <p:cNvSpPr/>
          <p:nvPr/>
        </p:nvSpPr>
        <p:spPr>
          <a:xfrm>
            <a:off x="4928616" y="2194560"/>
            <a:ext cx="603504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3712" y="3063240"/>
            <a:ext cx="135331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生产构建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53712" y="3675888"/>
            <a:ext cx="1353312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前端制品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752344"/>
            <a:ext cx="237744" cy="0"/>
          </a:xfrm>
          <a:prstGeom prst="line">
            <a:avLst/>
          </a:prstGeom>
          <a:noFill/>
          <a:ln w="25403">
            <a:solidFill>
              <a:schemeClr val="accent1"/>
            </a:solidFill>
          </a:ln>
        </p:spPr>
      </p:sp>
      <p:sp>
        <p:nvSpPr>
          <p:cNvPr id="27" name="Shape 25"/>
          <p:cNvSpPr/>
          <p:nvPr/>
        </p:nvSpPr>
        <p:spPr>
          <a:xfrm>
            <a:off x="6281928" y="1874520"/>
            <a:ext cx="1627632" cy="26974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8" name="Shape 26"/>
          <p:cNvSpPr/>
          <p:nvPr/>
        </p:nvSpPr>
        <p:spPr>
          <a:xfrm>
            <a:off x="6793992" y="2176272"/>
            <a:ext cx="603504" cy="603504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29" name="Text 27"/>
          <p:cNvSpPr/>
          <p:nvPr/>
        </p:nvSpPr>
        <p:spPr>
          <a:xfrm>
            <a:off x="6793992" y="2194560"/>
            <a:ext cx="603504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3063240"/>
            <a:ext cx="135331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接口冒烟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19088" y="3675888"/>
            <a:ext cx="1353312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服务可达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09560" y="2752344"/>
            <a:ext cx="237744" cy="0"/>
          </a:xfrm>
          <a:prstGeom prst="line">
            <a:avLst/>
          </a:prstGeom>
          <a:noFill/>
          <a:ln w="25403">
            <a:solidFill>
              <a:schemeClr val="accent1"/>
            </a:solidFill>
          </a:ln>
        </p:spPr>
      </p:sp>
      <p:sp>
        <p:nvSpPr>
          <p:cNvPr id="33" name="Shape 31"/>
          <p:cNvSpPr/>
          <p:nvPr/>
        </p:nvSpPr>
        <p:spPr>
          <a:xfrm>
            <a:off x="8147304" y="1874520"/>
            <a:ext cx="1627632" cy="26974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34" name="Shape 32"/>
          <p:cNvSpPr/>
          <p:nvPr/>
        </p:nvSpPr>
        <p:spPr>
          <a:xfrm>
            <a:off x="8659368" y="2176272"/>
            <a:ext cx="603504" cy="603504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35" name="Text 33"/>
          <p:cNvSpPr/>
          <p:nvPr/>
        </p:nvSpPr>
        <p:spPr>
          <a:xfrm>
            <a:off x="8659368" y="2194560"/>
            <a:ext cx="603504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84464" y="3063240"/>
            <a:ext cx="135331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84464" y="3675888"/>
            <a:ext cx="1353312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774936" y="2752344"/>
            <a:ext cx="237744" cy="0"/>
          </a:xfrm>
          <a:prstGeom prst="line">
            <a:avLst/>
          </a:prstGeom>
          <a:noFill/>
          <a:ln w="25403">
            <a:solidFill>
              <a:schemeClr val="accent1"/>
            </a:solidFill>
          </a:ln>
        </p:spPr>
      </p:sp>
      <p:sp>
        <p:nvSpPr>
          <p:cNvPr id="39" name="Shape 37"/>
          <p:cNvSpPr/>
          <p:nvPr/>
        </p:nvSpPr>
        <p:spPr>
          <a:xfrm>
            <a:off x="10012680" y="1874520"/>
            <a:ext cx="1627632" cy="269748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40" name="Shape 38"/>
          <p:cNvSpPr/>
          <p:nvPr/>
        </p:nvSpPr>
        <p:spPr>
          <a:xfrm>
            <a:off x="10524744" y="2176272"/>
            <a:ext cx="603504" cy="603504"/>
          </a:xfrm>
          <a:prstGeom prst="ellipse">
            <a:avLst/>
          </a:prstGeom>
          <a:solidFill>
            <a:schemeClr val="accent3"/>
          </a:solidFill>
          <a:ln w="12697">
            <a:solidFill>
              <a:schemeClr val="accent3"/>
            </a:solidFill>
          </a:ln>
        </p:spPr>
      </p:sp>
      <p:sp>
        <p:nvSpPr>
          <p:cNvPr id="41" name="Text 39"/>
          <p:cNvSpPr/>
          <p:nvPr/>
        </p:nvSpPr>
        <p:spPr>
          <a:xfrm>
            <a:off x="10524744" y="2194560"/>
            <a:ext cx="603504" cy="53035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149840" y="3063240"/>
            <a:ext cx="1353312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视觉回归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149840" y="3675888"/>
            <a:ext cx="1353312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界面一致性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4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24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3300"/>
                            </p:stCondLst>
                            <p:childTnLst>
                              <p:par>
                                <p:cTn id="1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4200"/>
                            </p:stCondLst>
                            <p:childTnLst>
                              <p:par>
                                <p:cTn id="1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5100"/>
                            </p:stCondLst>
                            <p:childTnLst>
                              <p:par>
                                <p:cTn id="1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6000"/>
                            </p:stCondLst>
                            <p:childTnLst>
                              <p:par>
                                <p:cTn id="1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6900"/>
                            </p:stCondLst>
                            <p:childTnLst>
                              <p:par>
                                <p:cTn id="1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五个门户 BC 已物理拆分；跨 BC 协作主要通过事件完成。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10652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987552" y="1828800"/>
            <a:ext cx="1115568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04288" y="1810512"/>
            <a:ext cx="29260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TypeScript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810512"/>
            <a:ext cx="54406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688336"/>
            <a:ext cx="10652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987552" y="2852928"/>
            <a:ext cx="1115568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服务治理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04288" y="2834640"/>
            <a:ext cx="29260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Cloud Gateway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2834640"/>
            <a:ext cx="54406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/ 系统 / 文件等通用服务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712464"/>
            <a:ext cx="10652760" cy="749808"/>
          </a:xfrm>
          <a:prstGeom prst="roundRect">
            <a:avLst>
              <a:gd name="adj" fmla="val 14634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987552" y="3877056"/>
            <a:ext cx="1115568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门户业务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04288" y="3858768"/>
            <a:ext cx="29260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Portal Kernel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858768"/>
            <a:ext cx="54406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AppCenter · Resources · Forum · RequiredKnowledge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736592"/>
            <a:ext cx="106527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2" name="Text 20"/>
          <p:cNvSpPr/>
          <p:nvPr/>
        </p:nvSpPr>
        <p:spPr>
          <a:xfrm>
            <a:off x="987552" y="4901184"/>
            <a:ext cx="1115568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04288" y="4882896"/>
            <a:ext cx="29260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· Redis · RabbitMQ · MinIO · Nacos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4882896"/>
            <a:ext cx="544068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部署从可复现走向可治理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单节点 K3s 可以恢复容器，但不能消除整机与存储故障。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16916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1" name="Text 9"/>
          <p:cNvSpPr/>
          <p:nvPr/>
        </p:nvSpPr>
        <p:spPr>
          <a:xfrm>
            <a:off x="914400" y="190195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44752" y="1856232"/>
            <a:ext cx="411480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Compose｜已落地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832" y="2313432"/>
            <a:ext cx="4617720" cy="2596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镜像、网络、存储、环境变量与启动关系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适合开发联调和离线单机验证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69164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5" name="Shape 13"/>
          <p:cNvSpPr/>
          <p:nvPr/>
        </p:nvSpPr>
        <p:spPr>
          <a:xfrm>
            <a:off x="6601968" y="189280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6" name="Text 14"/>
          <p:cNvSpPr/>
          <p:nvPr/>
        </p:nvSpPr>
        <p:spPr>
          <a:xfrm>
            <a:off x="6601968" y="190195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1856232"/>
            <a:ext cx="411480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K3s｜目标设计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2313432"/>
            <a:ext cx="4617720" cy="2596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声明式部署、健康探针、资源限制、监控与恢复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完整清单仍需实施验证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97296" y="3310128"/>
            <a:ext cx="594360" cy="0"/>
          </a:xfrm>
          <a:prstGeom prst="line">
            <a:avLst/>
          </a:prstGeom>
          <a:noFill/>
          <a:ln w="38100">
            <a:solidFill>
              <a:schemeClr val="accent1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踩坑之后，留下的应该是机制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9" name="Shape 7"/>
          <p:cNvSpPr/>
          <p:nvPr/>
        </p:nvSpPr>
        <p:spPr>
          <a:xfrm>
            <a:off x="914400" y="198424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1947672"/>
            <a:ext cx="24688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真相源分叉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404872"/>
            <a:ext cx="2971800" cy="264261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origin/main 唯一稳定主线；一任务一分支一执行者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07992" y="17830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Shape 12"/>
          <p:cNvSpPr/>
          <p:nvPr/>
        </p:nvSpPr>
        <p:spPr>
          <a:xfrm>
            <a:off x="4709160" y="198424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5" name="Text 13"/>
          <p:cNvSpPr/>
          <p:nvPr/>
        </p:nvSpPr>
        <p:spPr>
          <a:xfrm>
            <a:off x="4709160" y="199339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39512" y="1947672"/>
            <a:ext cx="24688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配置与升级漂移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6592" y="2404872"/>
            <a:ext cx="2971800" cy="264261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VERSION、PORTS、Nacos 正本、数据库三件套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02752" y="178308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9" name="Shape 17"/>
          <p:cNvSpPr/>
          <p:nvPr/>
        </p:nvSpPr>
        <p:spPr>
          <a:xfrm>
            <a:off x="8503920" y="198424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0" name="Text 18"/>
          <p:cNvSpPr/>
          <p:nvPr/>
        </p:nvSpPr>
        <p:spPr>
          <a:xfrm>
            <a:off x="8503920" y="199339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34272" y="1947672"/>
            <a:ext cx="24688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把编译当交付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31352" y="2404872"/>
            <a:ext cx="2971800" cy="264261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分层门禁 + 运行证据 + 用户行为验证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每一步都留下标准化产物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这些不是“多写文档”，而是让下一次变更仍然可理解、可执行、可追溯。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1755648"/>
            <a:ext cx="18745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923544" y="2029968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08376" y="1755648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2" name="Text 10"/>
          <p:cNvSpPr/>
          <p:nvPr/>
        </p:nvSpPr>
        <p:spPr>
          <a:xfrm>
            <a:off x="3145536" y="2029968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0368" y="1755648"/>
            <a:ext cx="18745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5367528" y="2029968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 地图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1755648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6" name="Text 14"/>
          <p:cNvSpPr/>
          <p:nvPr/>
        </p:nvSpPr>
        <p:spPr>
          <a:xfrm>
            <a:off x="7589520" y="2029968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74352" y="1755648"/>
            <a:ext cx="18745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9811512" y="2029968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6384" y="3236976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0" name="Text 18"/>
          <p:cNvSpPr/>
          <p:nvPr/>
        </p:nvSpPr>
        <p:spPr>
          <a:xfrm>
            <a:off x="923544" y="3511296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PORTS.md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08376" y="3236976"/>
            <a:ext cx="18745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22" name="Text 20"/>
          <p:cNvSpPr/>
          <p:nvPr/>
        </p:nvSpPr>
        <p:spPr>
          <a:xfrm>
            <a:off x="3145536" y="3511296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 MANIFEST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30368" y="3236976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4" name="Text 22"/>
          <p:cNvSpPr/>
          <p:nvPr/>
        </p:nvSpPr>
        <p:spPr>
          <a:xfrm>
            <a:off x="5367528" y="3511296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测试报告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52360" y="3236976"/>
            <a:ext cx="18745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26" name="Text 24"/>
          <p:cNvSpPr/>
          <p:nvPr/>
        </p:nvSpPr>
        <p:spPr>
          <a:xfrm>
            <a:off x="7589520" y="3511296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74352" y="3236976"/>
            <a:ext cx="18745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8" name="Text 26"/>
          <p:cNvSpPr/>
          <p:nvPr/>
        </p:nvSpPr>
        <p:spPr>
          <a:xfrm>
            <a:off x="9811512" y="3511296"/>
            <a:ext cx="16002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部署脚本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软件工厂不是某一个工具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786384" y="1554480"/>
            <a:ext cx="192024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它不等于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" y="205740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896112" y="2212848"/>
            <a:ext cx="1517904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项目管理系统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16352" y="205740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2" name="Text 10"/>
          <p:cNvSpPr/>
          <p:nvPr/>
        </p:nvSpPr>
        <p:spPr>
          <a:xfrm>
            <a:off x="2926080" y="2212848"/>
            <a:ext cx="1517904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 CI/CD 流水线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4956048" y="2212848"/>
            <a:ext cx="1517904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低代码平台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" y="301752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6" name="Text 14"/>
          <p:cNvSpPr/>
          <p:nvPr/>
        </p:nvSpPr>
        <p:spPr>
          <a:xfrm>
            <a:off x="896112" y="3172968"/>
            <a:ext cx="1517904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组件库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16352" y="3017520"/>
            <a:ext cx="1737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2926080" y="3172968"/>
            <a:ext cx="1517904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服务器资源池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67728" y="1572768"/>
            <a:ext cx="4343400" cy="3749040"/>
          </a:xfrm>
          <a:prstGeom prst="roundRect">
            <a:avLst>
              <a:gd name="adj" fmla="val 2927"/>
            </a:avLst>
          </a:prstGeom>
          <a:solidFill>
            <a:schemeClr val="accent5"/>
          </a:solidFill>
          <a:ln w="12697">
            <a:solidFill>
              <a:schemeClr val="accent1"/>
            </a:solidFill>
          </a:ln>
        </p:spPr>
      </p:sp>
      <p:sp>
        <p:nvSpPr>
          <p:cNvPr id="20" name="Text 18"/>
          <p:cNvSpPr/>
          <p:nvPr/>
        </p:nvSpPr>
        <p:spPr>
          <a:xfrm>
            <a:off x="7360920" y="1965960"/>
            <a:ext cx="3566160" cy="41148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60920" y="2788920"/>
            <a:ext cx="3474720" cy="16916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它是一套面向组织的软件生产体系：连接价值、角色、流程、标准、资产、平台、治理与度量。</a:t>
            </a:r>
            <a:endParaRPr lang="en-US" sz="16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四层八域：一个综合分析模型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49808" y="1536192"/>
            <a:ext cx="10680192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9" name="Text 7"/>
          <p:cNvSpPr/>
          <p:nvPr/>
        </p:nvSpPr>
        <p:spPr>
          <a:xfrm>
            <a:off x="960120" y="1719072"/>
            <a:ext cx="132588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价值与组织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78608" y="1709928"/>
            <a:ext cx="365760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业务价值与项目组合治理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1709928"/>
            <a:ext cx="420624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组织与运行机制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2615184"/>
            <a:ext cx="1068019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3" name="Text 11"/>
          <p:cNvSpPr/>
          <p:nvPr/>
        </p:nvSpPr>
        <p:spPr>
          <a:xfrm>
            <a:off x="960120" y="2798064"/>
            <a:ext cx="132588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研发与资产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8608" y="2788920"/>
            <a:ext cx="365760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生命周期与追溯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20624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工程标准与可复用资产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3694176"/>
            <a:ext cx="10680192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7" name="Text 15"/>
          <p:cNvSpPr/>
          <p:nvPr/>
        </p:nvSpPr>
        <p:spPr>
          <a:xfrm>
            <a:off x="960120" y="3877056"/>
            <a:ext cx="132588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平台与交付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78608" y="3867912"/>
            <a:ext cx="365760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DevSecOps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867912"/>
            <a:ext cx="420624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运行平台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4773168"/>
            <a:ext cx="1068019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1" name="Text 19"/>
          <p:cNvSpPr/>
          <p:nvPr/>
        </p:nvSpPr>
        <p:spPr>
          <a:xfrm>
            <a:off x="960120" y="4956048"/>
            <a:ext cx="132588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治理与改进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78608" y="4946904"/>
            <a:ext cx="365760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质量安全合规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946904"/>
            <a:ext cx="420624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交付、运行与业务度量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" y="5925312"/>
            <a:ext cx="10515600" cy="29260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 ISO 12207、CNCF、NIST SSDF、DORA 等思想形成；不是任何单一标准的原文分类。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与软件工厂不是两条平行线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94944" y="1508760"/>
            <a:ext cx="6675120" cy="111556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它们在同一条软件价值流上承担不同职责。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13232" y="2907792"/>
            <a:ext cx="5943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Shape 8"/>
          <p:cNvSpPr/>
          <p:nvPr/>
        </p:nvSpPr>
        <p:spPr>
          <a:xfrm>
            <a:off x="914400" y="3108960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1" name="Text 9"/>
          <p:cNvSpPr/>
          <p:nvPr/>
        </p:nvSpPr>
        <p:spPr>
          <a:xfrm>
            <a:off x="914400" y="3118104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44752" y="3072384"/>
            <a:ext cx="49834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grpSp>
        <p:nvGrpSpPr>
          <p:cNvPr id="26" name="Group 26"/>
          <p:cNvGrpSpPr/>
          <p:nvPr/>
        </p:nvGrpSpPr>
        <p:grpSpPr>
          <a:xfrm>
            <a:off x="935991" y="3529579"/>
            <a:ext cx="4500282" cy="224868"/>
            <a:chOff x="935991" y="3529579"/>
            <a:chExt cx="4500282" cy="224868"/>
          </a:xfrm>
        </p:grpSpPr>
        <p:sp>
          <p:nvSpPr>
            <p:cNvPr id="25" name="TextBox 25"/>
            <p:cNvSpPr txBox="1"/>
            <p:nvPr/>
          </p:nvSpPr>
          <p:spPr>
            <a:xfrm>
              <a:off x="935991" y="3529579"/>
              <a:ext cx="4500282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软件工厂提供受控上下文、规则、资产、工具、环境、门禁和证据</a:t>
              </a:r>
            </a:p>
          </p:txBody>
        </p:sp>
      </p:grpSp>
      <p:sp>
        <p:nvSpPr>
          <p:cNvPr id="14" name="Shape 12"/>
          <p:cNvSpPr/>
          <p:nvPr/>
        </p:nvSpPr>
        <p:spPr>
          <a:xfrm>
            <a:off x="713232" y="3840480"/>
            <a:ext cx="5943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5" name="Shape 13"/>
          <p:cNvSpPr/>
          <p:nvPr/>
        </p:nvSpPr>
        <p:spPr>
          <a:xfrm>
            <a:off x="914400" y="404164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6" name="Text 14"/>
          <p:cNvSpPr/>
          <p:nvPr/>
        </p:nvSpPr>
        <p:spPr>
          <a:xfrm>
            <a:off x="914400" y="405079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44752" y="4005072"/>
            <a:ext cx="49834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grpSp>
        <p:nvGrpSpPr>
          <p:cNvPr id="28" name="Group 28"/>
          <p:cNvGrpSpPr/>
          <p:nvPr/>
        </p:nvGrpSpPr>
        <p:grpSpPr>
          <a:xfrm>
            <a:off x="935991" y="4462267"/>
            <a:ext cx="3797643" cy="224868"/>
            <a:chOff x="935991" y="4462267"/>
            <a:chExt cx="3797643" cy="224868"/>
          </a:xfrm>
        </p:grpSpPr>
        <p:sp>
          <p:nvSpPr>
            <p:cNvPr id="27" name="TextBox 27"/>
            <p:cNvSpPr txBox="1"/>
            <p:nvPr/>
          </p:nvSpPr>
          <p:spPr>
            <a:xfrm>
              <a:off x="935991" y="4462267"/>
              <a:ext cx="3797643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AI 在授权范围内理解、生成、调用工具、验证与修复</a:t>
              </a:r>
            </a:p>
          </p:txBody>
        </p:sp>
      </p:grpSp>
      <p:sp>
        <p:nvSpPr>
          <p:cNvPr id="19" name="Shape 17"/>
          <p:cNvSpPr/>
          <p:nvPr/>
        </p:nvSpPr>
        <p:spPr>
          <a:xfrm>
            <a:off x="713232" y="4773168"/>
            <a:ext cx="59436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0" name="Shape 18"/>
          <p:cNvSpPr/>
          <p:nvPr/>
        </p:nvSpPr>
        <p:spPr>
          <a:xfrm>
            <a:off x="914400" y="4974336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1" name="Text 19"/>
          <p:cNvSpPr/>
          <p:nvPr/>
        </p:nvSpPr>
        <p:spPr>
          <a:xfrm>
            <a:off x="914400" y="4983480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44752" y="4937760"/>
            <a:ext cx="49834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1600" dirty="0"/>
          </a:p>
        </p:txBody>
      </p:sp>
      <p:grpSp>
        <p:nvGrpSpPr>
          <p:cNvPr id="30" name="Group 30"/>
          <p:cNvGrpSpPr/>
          <p:nvPr/>
        </p:nvGrpSpPr>
        <p:grpSpPr>
          <a:xfrm>
            <a:off x="935991" y="5394955"/>
            <a:ext cx="3416827" cy="224868"/>
            <a:chOff x="935991" y="5394955"/>
            <a:chExt cx="3416827" cy="224868"/>
          </a:xfrm>
        </p:grpSpPr>
        <p:sp>
          <p:nvSpPr>
            <p:cNvPr id="29" name="TextBox 29"/>
            <p:cNvSpPr txBox="1"/>
            <p:nvPr/>
          </p:nvSpPr>
          <p:spPr>
            <a:xfrm>
              <a:off x="935991" y="5394955"/>
              <a:ext cx="3416827" cy="224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人决定业务价值、架构例外、风险接受与最终发布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43800" y="1417320"/>
            <a:ext cx="4023360" cy="4526280"/>
            <a:chOff x="7543800" y="1417320"/>
            <a:chExt cx="4023360" cy="452628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3800" y="1417320"/>
              <a:ext cx="4023360" cy="452628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嵌入软件全生命周期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58368" y="1481328"/>
            <a:ext cx="34564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59436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13969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工厂：入口/优先级/责任人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41248" y="250545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AI：整理材料/用户故事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人：价值与范围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43984" y="1481328"/>
            <a:ext cx="34564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4626864" y="1645920"/>
            <a:ext cx="59436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26864" y="213969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工厂：技术目录/安全基线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26864" y="250545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AI：比较方案/检查冲突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6864" y="287121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人：架构决策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481328"/>
            <a:ext cx="34564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9" name="Text 17"/>
          <p:cNvSpPr/>
          <p:nvPr/>
        </p:nvSpPr>
        <p:spPr>
          <a:xfrm>
            <a:off x="8412480" y="1645920"/>
            <a:ext cx="59436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13969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工厂：仓库/分支/环境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250545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AI：编码/测试/同步文档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0" y="2871216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人：限定范围/审查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3785616"/>
            <a:ext cx="34564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4" name="Text 22"/>
          <p:cNvSpPr/>
          <p:nvPr/>
        </p:nvSpPr>
        <p:spPr>
          <a:xfrm>
            <a:off x="841248" y="3950208"/>
            <a:ext cx="59436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444398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工厂：不可绕过的门禁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" y="480974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AI：调用工具/修复复测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" y="517550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人：风险接受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43984" y="3785616"/>
            <a:ext cx="34564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9" name="Text 27"/>
          <p:cNvSpPr/>
          <p:nvPr/>
        </p:nvSpPr>
        <p:spPr>
          <a:xfrm>
            <a:off x="4626864" y="3950208"/>
            <a:ext cx="59436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26864" y="444398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工厂：制品/审批/回滚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26864" y="480974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AI：核对清单/风险分析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26864" y="517550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人：发布授权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3785616"/>
            <a:ext cx="34564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34" name="Text 32"/>
          <p:cNvSpPr/>
          <p:nvPr/>
        </p:nvSpPr>
        <p:spPr>
          <a:xfrm>
            <a:off x="8412480" y="3950208"/>
            <a:ext cx="594360" cy="3200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0" y="444398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工厂：日志/指标/反馈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12480" y="480974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AI：归因/聚类/建议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12480" y="5175504"/>
            <a:ext cx="306324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人：优先级与改进</a:t>
            </a:r>
            <a:endParaRPr lang="en-US" sz="10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800"/>
                            </p:stCondLst>
                            <p:childTnLst>
                              <p:par>
                                <p:cTn id="1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9700"/>
                            </p:stCondLst>
                            <p:childTnLst>
                              <p:par>
                                <p:cTn id="1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3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06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1500"/>
                            </p:stCondLst>
                            <p:childTnLst>
                              <p:par>
                                <p:cTn id="1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三个平面，责任清楚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运行数据和用户反馈再回到工厂，推动规则与黄金路径持续改进。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600200"/>
            <a:ext cx="1069848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0" name="Text 8"/>
          <p:cNvSpPr/>
          <p:nvPr/>
        </p:nvSpPr>
        <p:spPr>
          <a:xfrm>
            <a:off x="969264" y="1764792"/>
            <a:ext cx="20574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控制与支撑平面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20116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04688" y="1764792"/>
            <a:ext cx="539496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 · 规则 · 公共资产 · 环境 · 门禁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2907792"/>
            <a:ext cx="10698480" cy="941832"/>
          </a:xfrm>
          <a:prstGeom prst="roundRect">
            <a:avLst>
              <a:gd name="adj" fmla="val 11650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4" name="Text 12"/>
          <p:cNvSpPr/>
          <p:nvPr/>
        </p:nvSpPr>
        <p:spPr>
          <a:xfrm>
            <a:off x="969264" y="3072384"/>
            <a:ext cx="20574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智能执行平面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3063240"/>
            <a:ext cx="20116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自主研发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04688" y="3072384"/>
            <a:ext cx="539496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· 生成 · 工具调用 · 验证 · 修复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215384"/>
            <a:ext cx="1069848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8" name="Text 16"/>
          <p:cNvSpPr/>
          <p:nvPr/>
        </p:nvSpPr>
        <p:spPr>
          <a:xfrm>
            <a:off x="969264" y="4379976"/>
            <a:ext cx="20574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决策与责任平面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4370832"/>
            <a:ext cx="201168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04688" y="4379976"/>
            <a:ext cx="539496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 · 架构 · 风险 · 发布 · 结果责任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一份“上下文契约”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468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9" name="Shape 7"/>
          <p:cNvSpPr/>
          <p:nvPr/>
        </p:nvSpPr>
        <p:spPr>
          <a:xfrm>
            <a:off x="914400" y="1773936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0" name="Text 8"/>
          <p:cNvSpPr/>
          <p:nvPr/>
        </p:nvSpPr>
        <p:spPr>
          <a:xfrm>
            <a:off x="914400" y="1783080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1737360"/>
            <a:ext cx="150876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832" y="2194560"/>
            <a:ext cx="2011680" cy="136245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哪些业务资料、代码和历史决策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93008" y="1572768"/>
            <a:ext cx="2468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Shape 12"/>
          <p:cNvSpPr/>
          <p:nvPr/>
        </p:nvSpPr>
        <p:spPr>
          <a:xfrm>
            <a:off x="3694176" y="1773936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5" name="Text 13"/>
          <p:cNvSpPr/>
          <p:nvPr/>
        </p:nvSpPr>
        <p:spPr>
          <a:xfrm>
            <a:off x="3694176" y="1783080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24528" y="1737360"/>
            <a:ext cx="150876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21608" y="2194560"/>
            <a:ext cx="2011680" cy="136245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哪些仓库、目录、文件与任务范围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2784" y="1572768"/>
            <a:ext cx="2468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9" name="Shape 17"/>
          <p:cNvSpPr/>
          <p:nvPr/>
        </p:nvSpPr>
        <p:spPr>
          <a:xfrm>
            <a:off x="6473952" y="1773936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0" name="Text 18"/>
          <p:cNvSpPr/>
          <p:nvPr/>
        </p:nvSpPr>
        <p:spPr>
          <a:xfrm>
            <a:off x="6473952" y="1783080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150876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1384" y="2194560"/>
            <a:ext cx="2011680" cy="136245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哪些测试、制品、环境与诊断工具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52560" y="1572768"/>
            <a:ext cx="2468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4" name="Shape 22"/>
          <p:cNvSpPr/>
          <p:nvPr/>
        </p:nvSpPr>
        <p:spPr>
          <a:xfrm>
            <a:off x="9253728" y="1773936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5" name="Text 23"/>
          <p:cNvSpPr/>
          <p:nvPr/>
        </p:nvSpPr>
        <p:spPr>
          <a:xfrm>
            <a:off x="9253728" y="1783080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0" y="1737360"/>
            <a:ext cx="150876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必须交付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1160" y="2194560"/>
            <a:ext cx="2011680" cy="136245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哪些验证输出、差异说明与审计记录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115568" y="4315968"/>
            <a:ext cx="5074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9" name="Text 27"/>
          <p:cNvSpPr/>
          <p:nvPr/>
        </p:nvSpPr>
        <p:spPr>
          <a:xfrm>
            <a:off x="1344168" y="4507992"/>
            <a:ext cx="461772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低风险：文档同步、测试补充可自动推进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39128" y="4315968"/>
            <a:ext cx="5074920" cy="777240"/>
          </a:xfrm>
          <a:prstGeom prst="roundRect">
            <a:avLst>
              <a:gd name="adj" fmla="val 14118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31" name="Text 29"/>
          <p:cNvSpPr/>
          <p:nvPr/>
        </p:nvSpPr>
        <p:spPr>
          <a:xfrm>
            <a:off x="6967728" y="4507992"/>
            <a:ext cx="4617720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高风险：数据模型、公共契约、安全策略、生产发布必须人工确认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3400"/>
                            </p:stCondLst>
                            <p:childTnLst>
                              <p:par>
                                <p:cTn id="10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300"/>
                            </p:stCondLst>
                            <p:childTnLst>
                              <p:par>
                                <p:cTn id="1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52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6100"/>
                            </p:stCondLst>
                            <p:childTnLst>
                              <p:par>
                                <p:cTn id="1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8—12 周跑通一条最小闭环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不等工厂全部建完，也不一开始把所有系统纳入。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1645920"/>
            <a:ext cx="548640" cy="548640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0" name="Text 8"/>
          <p:cNvSpPr/>
          <p:nvPr/>
        </p:nvSpPr>
        <p:spPr>
          <a:xfrm>
            <a:off x="841248" y="1664208"/>
            <a:ext cx="548640" cy="5029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618488"/>
            <a:ext cx="11430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1—2 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07792" y="1618488"/>
            <a:ext cx="8046720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业务场景、范围、验收、风险与基线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15568" y="2194560"/>
            <a:ext cx="0" cy="457200"/>
          </a:xfrm>
          <a:prstGeom prst="line">
            <a:avLst/>
          </a:prstGeom>
          <a:noFill/>
          <a:ln w="25403">
            <a:solidFill>
              <a:schemeClr val="accent3"/>
            </a:solidFill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548640" cy="548640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5" name="Text 13"/>
          <p:cNvSpPr/>
          <p:nvPr/>
        </p:nvSpPr>
        <p:spPr>
          <a:xfrm>
            <a:off x="841248" y="2670048"/>
            <a:ext cx="548640" cy="5029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624328"/>
            <a:ext cx="11430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3—4 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2624328"/>
            <a:ext cx="8046720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黄金路径、参考架构、组件、环境与流水线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15568" y="3200400"/>
            <a:ext cx="0" cy="457200"/>
          </a:xfrm>
          <a:prstGeom prst="line">
            <a:avLst/>
          </a:prstGeom>
          <a:noFill/>
          <a:ln w="25403">
            <a:solidFill>
              <a:schemeClr val="accent3"/>
            </a:solidFill>
          </a:ln>
        </p:spPr>
      </p:sp>
      <p:sp>
        <p:nvSpPr>
          <p:cNvPr id="19" name="Shape 17"/>
          <p:cNvSpPr/>
          <p:nvPr/>
        </p:nvSpPr>
        <p:spPr>
          <a:xfrm>
            <a:off x="841248" y="3657600"/>
            <a:ext cx="548640" cy="548640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20" name="Text 18"/>
          <p:cNvSpPr/>
          <p:nvPr/>
        </p:nvSpPr>
        <p:spPr>
          <a:xfrm>
            <a:off x="841248" y="3675888"/>
            <a:ext cx="548640" cy="5029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3630168"/>
            <a:ext cx="11430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5—8 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07792" y="3630168"/>
            <a:ext cx="8046720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小批次迭代；每个增量自动验证并让用户试用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15568" y="4206240"/>
            <a:ext cx="0" cy="457200"/>
          </a:xfrm>
          <a:prstGeom prst="line">
            <a:avLst/>
          </a:prstGeom>
          <a:noFill/>
          <a:ln w="25403">
            <a:solidFill>
              <a:schemeClr val="accent3"/>
            </a:solidFill>
          </a:ln>
        </p:spPr>
      </p:sp>
      <p:sp>
        <p:nvSpPr>
          <p:cNvPr id="24" name="Shape 22"/>
          <p:cNvSpPr/>
          <p:nvPr/>
        </p:nvSpPr>
        <p:spPr>
          <a:xfrm>
            <a:off x="841248" y="4663440"/>
            <a:ext cx="548640" cy="548640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25" name="Text 23"/>
          <p:cNvSpPr/>
          <p:nvPr/>
        </p:nvSpPr>
        <p:spPr>
          <a:xfrm>
            <a:off x="841248" y="4681728"/>
            <a:ext cx="548640" cy="5029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4636008"/>
            <a:ext cx="11430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9—12 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07792" y="4636008"/>
            <a:ext cx="8046720" cy="457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部署、运行观察、反馈修正与复盘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试点同时看四类指标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49808" y="1600200"/>
            <a:ext cx="50749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9" name="Shape 7"/>
          <p:cNvSpPr/>
          <p:nvPr/>
        </p:nvSpPr>
        <p:spPr>
          <a:xfrm>
            <a:off x="950976" y="180136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0" name="Text 8"/>
          <p:cNvSpPr/>
          <p:nvPr/>
        </p:nvSpPr>
        <p:spPr>
          <a:xfrm>
            <a:off x="950976" y="181051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81328" y="1764792"/>
            <a:ext cx="411480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业务结果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2221992"/>
            <a:ext cx="4617720" cy="87782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办理时间、重复录入、真实使用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1600200"/>
            <a:ext cx="50749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4" name="Shape 12"/>
          <p:cNvSpPr/>
          <p:nvPr/>
        </p:nvSpPr>
        <p:spPr>
          <a:xfrm>
            <a:off x="6437376" y="180136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15" name="Text 13"/>
          <p:cNvSpPr/>
          <p:nvPr/>
        </p:nvSpPr>
        <p:spPr>
          <a:xfrm>
            <a:off x="6437376" y="181051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67728" y="1764792"/>
            <a:ext cx="411480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交付效能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64808" y="2221992"/>
            <a:ext cx="4617720" cy="87782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部署频率、变更前置时间、失败率、恢复时间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3657600"/>
            <a:ext cx="50749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9" name="Shape 17"/>
          <p:cNvSpPr/>
          <p:nvPr/>
        </p:nvSpPr>
        <p:spPr>
          <a:xfrm>
            <a:off x="950976" y="385876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0" name="Text 18"/>
          <p:cNvSpPr/>
          <p:nvPr/>
        </p:nvSpPr>
        <p:spPr>
          <a:xfrm>
            <a:off x="950976" y="386791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1328" y="3822192"/>
            <a:ext cx="411480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工厂能力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78408" y="4279392"/>
            <a:ext cx="4617720" cy="87782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门禁覆盖、组件复用、标准路径采用、首次部署时间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6208" y="3657600"/>
            <a:ext cx="50749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4" name="Shape 22"/>
          <p:cNvSpPr/>
          <p:nvPr/>
        </p:nvSpPr>
        <p:spPr>
          <a:xfrm>
            <a:off x="6437376" y="3858768"/>
            <a:ext cx="384048" cy="384048"/>
          </a:xfrm>
          <a:prstGeom prst="ellipse">
            <a:avLst/>
          </a:prstGeom>
          <a:solidFill>
            <a:schemeClr val="accent5"/>
          </a:solidFill>
          <a:ln w="12697">
            <a:solidFill>
              <a:schemeClr val="accent5"/>
            </a:solidFill>
          </a:ln>
        </p:spPr>
      </p:sp>
      <p:sp>
        <p:nvSpPr>
          <p:cNvPr id="25" name="Text 23"/>
          <p:cNvSpPr/>
          <p:nvPr/>
        </p:nvSpPr>
        <p:spPr>
          <a:xfrm>
            <a:off x="6437376" y="3867912"/>
            <a:ext cx="384048" cy="36576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67728" y="3822192"/>
            <a:ext cx="411480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研发体验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64808" y="4279392"/>
            <a:ext cx="4617720" cy="87782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等待时间、环境准备难度、平台满意度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未来怎么干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89888" y="2368296"/>
            <a:ext cx="2016252" cy="0"/>
          </a:xfrm>
          <a:prstGeom prst="line">
            <a:avLst/>
          </a:prstGeom>
          <a:noFill/>
          <a:ln w="38100">
            <a:solidFill>
              <a:schemeClr val="accent3"/>
            </a:solidFill>
          </a:ln>
        </p:spPr>
      </p:sp>
      <p:sp>
        <p:nvSpPr>
          <p:cNvPr id="11" name="Text 9"/>
          <p:cNvSpPr/>
          <p:nvPr/>
        </p:nvSpPr>
        <p:spPr>
          <a:xfrm>
            <a:off x="53035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先盘点能力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看清现有工具、流程、等待与返工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0614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4" name="Text 12"/>
          <p:cNvSpPr/>
          <p:nvPr/>
        </p:nvSpPr>
        <p:spPr>
          <a:xfrm>
            <a:off x="340614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4508" y="2368296"/>
            <a:ext cx="2016252" cy="0"/>
          </a:xfrm>
          <a:prstGeom prst="line">
            <a:avLst/>
          </a:prstGeom>
          <a:noFill/>
          <a:ln w="38100">
            <a:solidFill>
              <a:schemeClr val="accent3"/>
            </a:solidFill>
          </a:ln>
        </p:spPr>
      </p:sp>
      <p:sp>
        <p:nvSpPr>
          <p:cNvPr id="16" name="Text 14"/>
          <p:cNvSpPr/>
          <p:nvPr/>
        </p:nvSpPr>
        <p:spPr>
          <a:xfrm>
            <a:off x="320497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再选真实试点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497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有业务负责人、真实用户、可衡量问题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19" name="Text 17"/>
          <p:cNvSpPr/>
          <p:nvPr/>
        </p:nvSpPr>
        <p:spPr>
          <a:xfrm>
            <a:off x="608076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39128" y="2368296"/>
            <a:ext cx="2016252" cy="0"/>
          </a:xfrm>
          <a:prstGeom prst="line">
            <a:avLst/>
          </a:prstGeom>
          <a:noFill/>
          <a:ln w="38100">
            <a:solidFill>
              <a:schemeClr val="accent3"/>
            </a:solidFill>
          </a:ln>
        </p:spPr>
      </p:sp>
      <p:sp>
        <p:nvSpPr>
          <p:cNvPr id="21" name="Text 19"/>
          <p:cNvSpPr/>
          <p:nvPr/>
        </p:nvSpPr>
        <p:spPr>
          <a:xfrm>
            <a:off x="587959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先跑通最小闭环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7959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代码 → 测试 → 制品 → 部署 → 反馈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55380" y="2039112"/>
            <a:ext cx="658368" cy="658368"/>
          </a:xfrm>
          <a:prstGeom prst="ellipse">
            <a:avLst/>
          </a:prstGeom>
          <a:solidFill>
            <a:schemeClr val="accent1"/>
          </a:solidFill>
          <a:ln w="12697">
            <a:solidFill>
              <a:schemeClr val="accent1"/>
            </a:solidFill>
          </a:ln>
        </p:spPr>
      </p:sp>
      <p:sp>
        <p:nvSpPr>
          <p:cNvPr id="24" name="Text 22"/>
          <p:cNvSpPr/>
          <p:nvPr/>
        </p:nvSpPr>
        <p:spPr>
          <a:xfrm>
            <a:off x="8755380" y="2057400"/>
            <a:ext cx="658368" cy="61264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54212" y="2880360"/>
            <a:ext cx="2331720" cy="347472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再产品化推广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54212" y="3401568"/>
            <a:ext cx="2423160" cy="11430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把模板、组件、门禁和平台服务版本化</a:t>
            </a:r>
            <a:endParaRPr lang="en-US" sz="11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700"/>
                            </p:stCondLst>
                            <p:childTnLst>
                              <p:par>
                                <p:cTn id="9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600"/>
                            </p:stCondLst>
                            <p:childTnLst>
                              <p:par>
                                <p:cTn id="10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1714" cy="6858000"/>
            <a:chOff x="0" y="0"/>
            <a:chExt cx="12191714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1714" cy="6858000"/>
            </a:xfrm>
            <a:prstGeom prst="rect">
              <a:avLst/>
            </a:prstGeom>
          </p:spPr>
        </p:pic>
      </p:grpSp>
      <p:sp>
        <p:nvSpPr>
          <p:cNvPr id="3" name="Shape 0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chemeClr val="lt1">
              <a:alpha val="98000"/>
            </a:schemeClr>
          </a:solidFill>
          <a:ln w="12697">
            <a:solidFill>
              <a:srgbClr val="F5FAFF">
                <a:alpha val="0"/>
              </a:srgbClr>
            </a:solidFill>
          </a:ln>
        </p:spPr>
      </p:sp>
      <p:sp>
        <p:nvSpPr>
          <p:cNvPr id="4" name="Shape 1"/>
          <p:cNvSpPr/>
          <p:nvPr/>
        </p:nvSpPr>
        <p:spPr>
          <a:xfrm>
            <a:off x="731520" y="987552"/>
            <a:ext cx="1097280" cy="0"/>
          </a:xfrm>
          <a:prstGeom prst="line">
            <a:avLst/>
          </a:prstGeom>
          <a:noFill/>
          <a:ln w="50797">
            <a:solidFill>
              <a:schemeClr val="accent1"/>
            </a:solidFill>
          </a:ln>
        </p:spPr>
      </p:sp>
      <p:sp>
        <p:nvSpPr>
          <p:cNvPr id="5" name="Text 2"/>
          <p:cNvSpPr/>
          <p:nvPr/>
        </p:nvSpPr>
        <p:spPr>
          <a:xfrm>
            <a:off x="731520" y="1389888"/>
            <a:ext cx="6766560" cy="16002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工厂定轨，AI 提速，人做决策，数据反馈。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3337560"/>
            <a:ext cx="6035040" cy="100584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自主建设能力的目标，不是做出更多系统，而是持续、敏捷、可靠地把真实业务问题转化为软件服务。</a:t>
            </a:r>
            <a:endParaRPr lang="en-US" sz="17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51560" y="374904"/>
            <a:ext cx="10561320" cy="0"/>
          </a:xfrm>
          <a:prstGeom prst="line">
            <a:avLst/>
          </a:prstGeom>
          <a:noFill/>
          <a:ln w="12697">
            <a:solidFill>
              <a:schemeClr val="accent4"/>
            </a:solidFill>
          </a:ln>
        </p:spPr>
      </p:sp>
      <p:sp>
        <p:nvSpPr>
          <p:cNvPr id="4" name="Text 2"/>
          <p:cNvSpPr/>
          <p:nvPr/>
        </p:nvSpPr>
        <p:spPr>
          <a:xfrm>
            <a:off x="566928" y="576072"/>
            <a:ext cx="11018520" cy="475488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权威参考与方法来源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738360" y="210312"/>
            <a:ext cx="1874520" cy="22860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× SOFTWARE FACTORY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66928" y="6547104"/>
            <a:ext cx="11018520" cy="0"/>
          </a:xfrm>
          <a:prstGeom prst="line">
            <a:avLst/>
          </a:prstGeom>
          <a:noFill/>
          <a:ln w="8887">
            <a:solidFill>
              <a:schemeClr val="accent4"/>
            </a:solidFill>
          </a:ln>
        </p:spPr>
      </p:sp>
      <p:sp>
        <p:nvSpPr>
          <p:cNvPr id="7" name="Text 5"/>
          <p:cNvSpPr/>
          <p:nvPr/>
        </p:nvSpPr>
        <p:spPr>
          <a:xfrm>
            <a:off x="566928" y="6611112"/>
            <a:ext cx="3657600" cy="14630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从项目实践到软件工厂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94944" y="1353312"/>
            <a:ext cx="10808208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9" name="Text 7"/>
          <p:cNvSpPr/>
          <p:nvPr/>
        </p:nvSpPr>
        <p:spPr>
          <a:xfrm>
            <a:off x="896112" y="1481328"/>
            <a:ext cx="297180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ISO/IEC/IEEE 12207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86784" y="1463040"/>
            <a:ext cx="48006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软件全生命周期过程框架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823960" y="1463040"/>
            <a:ext cx="2423160" cy="41148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https://www.iso.org/standard/90219.html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94944" y="2395728"/>
            <a:ext cx="1080820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13" name="Text 11"/>
          <p:cNvSpPr/>
          <p:nvPr/>
        </p:nvSpPr>
        <p:spPr>
          <a:xfrm>
            <a:off x="896112" y="2523744"/>
            <a:ext cx="297180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CNCF Platform Engineering Maturity 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86784" y="2505456"/>
            <a:ext cx="48006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平台作为内部产品；平衡人员、流程、政策与技术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23960" y="2505456"/>
            <a:ext cx="2423160" cy="41148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https://tag-app-delivery.cncf.io/whitepapers/platform-eng-maturity-model/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94944" y="3438144"/>
            <a:ext cx="10808208" cy="841248"/>
          </a:xfrm>
          <a:prstGeom prst="roundRect">
            <a:avLst>
              <a:gd name="adj" fmla="val 13043"/>
            </a:avLst>
          </a:prstGeom>
          <a:solidFill>
            <a:schemeClr val="accent5"/>
          </a:solidFill>
          <a:ln w="12697">
            <a:solidFill>
              <a:schemeClr val="accent4"/>
            </a:solidFill>
          </a:ln>
        </p:spPr>
      </p:sp>
      <p:sp>
        <p:nvSpPr>
          <p:cNvPr id="17" name="Text 15"/>
          <p:cNvSpPr/>
          <p:nvPr/>
        </p:nvSpPr>
        <p:spPr>
          <a:xfrm>
            <a:off x="896112" y="3566160"/>
            <a:ext cx="297180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SP 800-218 SSDF 1.1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86784" y="3547872"/>
            <a:ext cx="48006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把安全实践嵌入软件开发生命周期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23960" y="3547872"/>
            <a:ext cx="2423160" cy="41148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https://csrc.nist.gov/pubs/sp/800/218/final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94944" y="4480560"/>
            <a:ext cx="10808208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697">
            <a:solidFill>
              <a:schemeClr val="accent4"/>
            </a:solidFill>
          </a:ln>
        </p:spPr>
      </p:sp>
      <p:sp>
        <p:nvSpPr>
          <p:cNvPr id="21" name="Text 19"/>
          <p:cNvSpPr/>
          <p:nvPr/>
        </p:nvSpPr>
        <p:spPr>
          <a:xfrm>
            <a:off x="896112" y="4608576"/>
            <a:ext cx="2971800" cy="27432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C7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DORA Software Delivery Performance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86784" y="4590288"/>
            <a:ext cx="4800600" cy="310896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以吞吐与稳定性指标推动持续改进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23960" y="4590288"/>
            <a:ext cx="2423160" cy="411480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https://dora.dev/guides/dora-metrics/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7240" y="5715000"/>
            <a:ext cx="10607040" cy="329184"/>
          </a:xfrm>
          <a:prstGeom prst="rect">
            <a:avLst/>
          </a:prstGeom>
          <a:noFill/>
          <a:ln>
            <a:noFill/>
          </a:ln>
        </p:spPr>
        <p:txBody xmlns:a="http://schemas.openxmlformats.org/drawingml/2006/main" xmlns:p="http://schemas.openxmlformats.org/presentationml/2006/main"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873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本演示中的“四层八域”“三个平面”是基于上述框架与项目实践形成的综合模型。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4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8900"/>
                            </p:stCondLst>
                            <p:childTnLst>
                              <p:par>
                                <p:cTn id="8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9800"/>
                            </p:stCondLst>
                            <p:childTnLst>
                              <p:par>
                                <p:cTn id="9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9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i_software_factory_light">
  <a:themeElements>
    <a:clrScheme name="ai_software_factory_light">
      <a:dk1>
        <a:srgbClr val="16324F"/>
      </a:dk1>
      <a:lt1>
        <a:srgbClr val="F5FAFF"/>
      </a:lt1>
      <a:dk2>
        <a:srgbClr val="58738D"/>
      </a:dk2>
      <a:lt2>
        <a:srgbClr val="F5FAFF"/>
      </a:lt2>
      <a:accent1>
        <a:srgbClr val="2C7FB8"/>
      </a:accent1>
      <a:accent2>
        <a:srgbClr val="2C7FB8"/>
      </a:accent2>
      <a:accent3>
        <a:srgbClr val="8EC9E8"/>
      </a:accent3>
      <a:accent4>
        <a:srgbClr val="BBD9EA"/>
      </a:accent4>
      <a:accent5>
        <a:srgbClr val="E4F2FA"/>
      </a:accent5>
      <a:accent6>
        <a:srgbClr val="58738D"/>
      </a:accent6>
      <a:hlink>
        <a:srgbClr val="2C7FB8"/>
      </a:hlink>
      <a:folHlink>
        <a:srgbClr val="8EC9E8"/>
      </a:folHlink>
    </a:clrScheme>
    <a:fontScheme name="ai_software_factory_ligh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software_factory_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2026-07-14T17:50:22Z</dcterms:created>
  <dcterms:modified xsi:type="dcterms:W3CDTF">2026-07-14T17:50:22Z</dcterms:modified>
  <cp:category/>
  <cp:contentStatus/>
</cp:coreProperties>
</file>